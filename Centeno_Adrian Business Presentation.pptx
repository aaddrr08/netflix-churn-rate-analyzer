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7E3042-7CFE-4214-A0AF-CEBC023D05A1}" type="datetimeFigureOut">
              <a:rPr lang="en-PH" smtClean="0"/>
              <a:t>28/12/2025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a:xfrm>
            <a:off x="9255346" y="2750337"/>
            <a:ext cx="1171888" cy="1356442"/>
          </a:xfrm>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25148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7E3042-7CFE-4214-A0AF-CEBC023D05A1}" type="datetimeFigureOut">
              <a:rPr lang="en-PH" smtClean="0"/>
              <a:t>28/12/2025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4204784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7E3042-7CFE-4214-A0AF-CEBC023D05A1}" type="datetimeFigureOut">
              <a:rPr lang="en-PH" smtClean="0"/>
              <a:t>28/12/2025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a:xfrm>
            <a:off x="10729455" y="2869895"/>
            <a:ext cx="1154151" cy="1090789"/>
          </a:xfrm>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3747283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2263034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7E3042-7CFE-4214-A0AF-CEBC023D05A1}" type="datetimeFigureOut">
              <a:rPr lang="en-PH" smtClean="0"/>
              <a:t>28/12/2025</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2972825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7E3042-7CFE-4214-A0AF-CEBC023D05A1}" type="datetimeFigureOut">
              <a:rPr lang="en-PH" smtClean="0"/>
              <a:t>28/12/2025</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22704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17E3042-7CFE-4214-A0AF-CEBC023D05A1}" type="datetimeFigureOut">
              <a:rPr lang="en-PH" smtClean="0"/>
              <a:t>28/12/2025</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919259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642716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658035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a:xfrm>
            <a:off x="10729455" y="4711309"/>
            <a:ext cx="1154151" cy="1090789"/>
          </a:xfrm>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177224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a:xfrm>
            <a:off x="10729455" y="4711615"/>
            <a:ext cx="1154151" cy="1090789"/>
          </a:xfrm>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3203495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a:xfrm>
            <a:off x="10729455" y="4709925"/>
            <a:ext cx="1154151" cy="1090789"/>
          </a:xfrm>
        </p:spPr>
        <p:txBody>
          <a:bodyPr/>
          <a:lstStyle/>
          <a:p>
            <a:fld id="{283CAFD2-181E-4115-859D-2F9FD80F8163}" type="slidenum">
              <a:rPr lang="en-PH" smtClean="0"/>
              <a:t>‹#›</a:t>
            </a:fld>
            <a:endParaRPr lang="en-PH"/>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262261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7E3042-7CFE-4214-A0AF-CEBC023D05A1}" type="datetimeFigureOut">
              <a:rPr lang="en-PH" smtClean="0"/>
              <a:t>28/12/2025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a:xfrm>
            <a:off x="10729455" y="4709925"/>
            <a:ext cx="1154151" cy="1090789"/>
          </a:xfrm>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3625960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17E3042-7CFE-4214-A0AF-CEBC023D05A1}" type="datetimeFigureOut">
              <a:rPr lang="en-PH" smtClean="0"/>
              <a:t>28/12/2025</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4120775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17E3042-7CFE-4214-A0AF-CEBC023D05A1}" type="datetimeFigureOut">
              <a:rPr lang="en-PH" smtClean="0"/>
              <a:t>28/12/2025</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4022736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7E3042-7CFE-4214-A0AF-CEBC023D05A1}" type="datetimeFigureOut">
              <a:rPr lang="en-PH" smtClean="0"/>
              <a:t>28/12/2025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283CAFD2-181E-4115-859D-2F9FD80F8163}" type="slidenum">
              <a:rPr lang="en-PH" smtClean="0"/>
              <a:t>‹#›</a:t>
            </a:fld>
            <a:endParaRPr lang="en-PH"/>
          </a:p>
        </p:txBody>
      </p:sp>
    </p:spTree>
    <p:extLst>
      <p:ext uri="{BB962C8B-B14F-4D97-AF65-F5344CB8AC3E}">
        <p14:creationId xmlns:p14="http://schemas.microsoft.com/office/powerpoint/2010/main" val="11243142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E3042-7CFE-4214-A0AF-CEBC023D05A1}" type="datetimeFigureOut">
              <a:rPr lang="en-PH" smtClean="0"/>
              <a:t>28/12/2025</a:t>
            </a:fld>
            <a:endParaRPr lang="en-PH"/>
          </a:p>
        </p:txBody>
      </p:sp>
      <p:sp>
        <p:nvSpPr>
          <p:cNvPr id="5" name="Footer Placeholder 4"/>
          <p:cNvSpPr>
            <a:spLocks noGrp="1"/>
          </p:cNvSpPr>
          <p:nvPr>
            <p:ph type="ftr" sz="quarter" idx="11"/>
          </p:nvPr>
        </p:nvSpPr>
        <p:spPr>
          <a:xfrm>
            <a:off x="680321" y="5936188"/>
            <a:ext cx="6126805" cy="365125"/>
          </a:xfrm>
        </p:spPr>
        <p:txBody>
          <a:bodyPr/>
          <a:lstStyle/>
          <a:p>
            <a:endParaRPr lang="en-PH"/>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83CAFD2-181E-4115-859D-2F9FD80F8163}" type="slidenum">
              <a:rPr lang="en-PH" smtClean="0"/>
              <a:t>‹#›</a:t>
            </a:fld>
            <a:endParaRPr lang="en-PH"/>
          </a:p>
        </p:txBody>
      </p:sp>
    </p:spTree>
    <p:extLst>
      <p:ext uri="{BB962C8B-B14F-4D97-AF65-F5344CB8AC3E}">
        <p14:creationId xmlns:p14="http://schemas.microsoft.com/office/powerpoint/2010/main" val="36949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17E3042-7CFE-4214-A0AF-CEBC023D05A1}" type="datetimeFigureOut">
              <a:rPr lang="en-PH" smtClean="0"/>
              <a:t>28/12/2025</a:t>
            </a:fld>
            <a:endParaRPr lang="en-PH"/>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83CAFD2-181E-4115-859D-2F9FD80F8163}" type="slidenum">
              <a:rPr lang="en-PH" smtClean="0"/>
              <a:t>‹#›</a:t>
            </a:fld>
            <a:endParaRPr lang="en-PH"/>
          </a:p>
        </p:txBody>
      </p:sp>
    </p:spTree>
    <p:extLst>
      <p:ext uri="{BB962C8B-B14F-4D97-AF65-F5344CB8AC3E}">
        <p14:creationId xmlns:p14="http://schemas.microsoft.com/office/powerpoint/2010/main" val="403639016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www.kaggle.com/datasets/abdulwadood11220/netflix-customer-churn-dataset/data"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92A1-874B-1EA8-1755-6F9B19A01764}"/>
              </a:ext>
            </a:extLst>
          </p:cNvPr>
          <p:cNvSpPr>
            <a:spLocks noGrp="1"/>
          </p:cNvSpPr>
          <p:nvPr>
            <p:ph type="ctrTitle"/>
          </p:nvPr>
        </p:nvSpPr>
        <p:spPr/>
        <p:txBody>
          <a:bodyPr/>
          <a:lstStyle/>
          <a:p>
            <a:r>
              <a:rPr lang="en-PH" sz="4000" b="1" dirty="0"/>
              <a:t>How Show Recommendations In Netflix Affect User Churn Rate</a:t>
            </a:r>
            <a:endParaRPr lang="en-PH" sz="4000" dirty="0"/>
          </a:p>
        </p:txBody>
      </p:sp>
      <p:sp>
        <p:nvSpPr>
          <p:cNvPr id="3" name="Subtitle 2">
            <a:extLst>
              <a:ext uri="{FF2B5EF4-FFF2-40B4-BE49-F238E27FC236}">
                <a16:creationId xmlns:a16="http://schemas.microsoft.com/office/drawing/2014/main" id="{72EF4511-C4D3-C8C1-7A8B-C478FB87B296}"/>
              </a:ext>
            </a:extLst>
          </p:cNvPr>
          <p:cNvSpPr>
            <a:spLocks noGrp="1"/>
          </p:cNvSpPr>
          <p:nvPr>
            <p:ph type="subTitle" idx="1"/>
          </p:nvPr>
        </p:nvSpPr>
        <p:spPr/>
        <p:txBody>
          <a:bodyPr>
            <a:normAutofit/>
          </a:bodyPr>
          <a:lstStyle/>
          <a:p>
            <a:r>
              <a:rPr lang="en-PH" sz="1600" i="1" dirty="0"/>
              <a:t>Presentation by Adrian Centeno</a:t>
            </a:r>
          </a:p>
        </p:txBody>
      </p:sp>
    </p:spTree>
    <p:extLst>
      <p:ext uri="{BB962C8B-B14F-4D97-AF65-F5344CB8AC3E}">
        <p14:creationId xmlns:p14="http://schemas.microsoft.com/office/powerpoint/2010/main" val="71669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5 principles for solving problems">
            <a:extLst>
              <a:ext uri="{FF2B5EF4-FFF2-40B4-BE49-F238E27FC236}">
                <a16:creationId xmlns:a16="http://schemas.microsoft.com/office/drawing/2014/main" id="{D6CDE3E1-9D33-ABA3-6744-D25C03B7EA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5650" y="2074606"/>
            <a:ext cx="5020700" cy="394765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E7D4CAEE-EDF4-D2F8-2C8C-2BF24ED093F5}"/>
              </a:ext>
            </a:extLst>
          </p:cNvPr>
          <p:cNvSpPr>
            <a:spLocks noGrp="1"/>
          </p:cNvSpPr>
          <p:nvPr>
            <p:ph type="title"/>
          </p:nvPr>
        </p:nvSpPr>
        <p:spPr/>
        <p:txBody>
          <a:bodyPr/>
          <a:lstStyle/>
          <a:p>
            <a:r>
              <a:rPr lang="en-PH" dirty="0"/>
              <a:t>The Business Problem</a:t>
            </a:r>
          </a:p>
        </p:txBody>
      </p:sp>
    </p:spTree>
    <p:extLst>
      <p:ext uri="{BB962C8B-B14F-4D97-AF65-F5344CB8AC3E}">
        <p14:creationId xmlns:p14="http://schemas.microsoft.com/office/powerpoint/2010/main" val="380065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CC2B-AFCE-CF78-1BFD-5919CCCD349E}"/>
            </a:ext>
          </a:extLst>
        </p:cNvPr>
        <p:cNvGrpSpPr/>
        <p:nvPr/>
      </p:nvGrpSpPr>
      <p:grpSpPr>
        <a:xfrm>
          <a:off x="0" y="0"/>
          <a:ext cx="0" cy="0"/>
          <a:chOff x="0" y="0"/>
          <a:chExt cx="0" cy="0"/>
        </a:xfrm>
      </p:grpSpPr>
      <p:pic>
        <p:nvPicPr>
          <p:cNvPr id="1026" name="Picture 2" descr="​5 principles for solving problems">
            <a:extLst>
              <a:ext uri="{FF2B5EF4-FFF2-40B4-BE49-F238E27FC236}">
                <a16:creationId xmlns:a16="http://schemas.microsoft.com/office/drawing/2014/main" id="{67B634C7-4C89-246C-D612-0B62CFF8134E}"/>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artisticBlur/>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771904" y="1441181"/>
            <a:ext cx="6648192" cy="522730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6C7CBF4-6C70-0C25-27C6-329FF3BCA144}"/>
              </a:ext>
            </a:extLst>
          </p:cNvPr>
          <p:cNvSpPr>
            <a:spLocks noGrp="1"/>
          </p:cNvSpPr>
          <p:nvPr>
            <p:ph type="title"/>
          </p:nvPr>
        </p:nvSpPr>
        <p:spPr/>
        <p:txBody>
          <a:bodyPr/>
          <a:lstStyle/>
          <a:p>
            <a:r>
              <a:rPr lang="en-PH" dirty="0"/>
              <a:t>The Business Problem – </a:t>
            </a:r>
            <a:r>
              <a:rPr lang="en-PH" i="1" dirty="0"/>
              <a:t>NETFLIX Facts</a:t>
            </a:r>
          </a:p>
        </p:txBody>
      </p:sp>
      <p:sp>
        <p:nvSpPr>
          <p:cNvPr id="2" name="Content Placeholder 1">
            <a:extLst>
              <a:ext uri="{FF2B5EF4-FFF2-40B4-BE49-F238E27FC236}">
                <a16:creationId xmlns:a16="http://schemas.microsoft.com/office/drawing/2014/main" id="{EBA2B3CB-098E-612E-B597-9AB3FD75F951}"/>
              </a:ext>
            </a:extLst>
          </p:cNvPr>
          <p:cNvSpPr>
            <a:spLocks noGrp="1"/>
          </p:cNvSpPr>
          <p:nvPr>
            <p:ph idx="1"/>
          </p:nvPr>
        </p:nvSpPr>
        <p:spPr>
          <a:xfrm>
            <a:off x="680321" y="2336873"/>
            <a:ext cx="10951240" cy="1173243"/>
          </a:xfrm>
        </p:spPr>
        <p:txBody>
          <a:bodyPr/>
          <a:lstStyle/>
          <a:p>
            <a:r>
              <a:rPr lang="en-PH" sz="3200" dirty="0"/>
              <a:t>One of the most dominant streaming platforms up until this day.</a:t>
            </a:r>
          </a:p>
          <a:p>
            <a:endParaRPr lang="en-PH" sz="3200" dirty="0"/>
          </a:p>
          <a:p>
            <a:endParaRPr lang="en-PH" dirty="0"/>
          </a:p>
        </p:txBody>
      </p:sp>
      <p:sp>
        <p:nvSpPr>
          <p:cNvPr id="5" name="Content Placeholder 1">
            <a:extLst>
              <a:ext uri="{FF2B5EF4-FFF2-40B4-BE49-F238E27FC236}">
                <a16:creationId xmlns:a16="http://schemas.microsoft.com/office/drawing/2014/main" id="{153CCF2B-72C8-4089-6C41-7FC87C2039E8}"/>
              </a:ext>
            </a:extLst>
          </p:cNvPr>
          <p:cNvSpPr txBox="1">
            <a:spLocks/>
          </p:cNvSpPr>
          <p:nvPr/>
        </p:nvSpPr>
        <p:spPr>
          <a:xfrm>
            <a:off x="680320" y="3224177"/>
            <a:ext cx="10831359" cy="1173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PH" sz="3200" dirty="0"/>
              <a:t>One of the most innovative and technologically advanced.</a:t>
            </a:r>
          </a:p>
          <a:p>
            <a:endParaRPr lang="en-PH" sz="3200" dirty="0"/>
          </a:p>
          <a:p>
            <a:endParaRPr lang="en-PH" dirty="0"/>
          </a:p>
        </p:txBody>
      </p:sp>
      <p:sp>
        <p:nvSpPr>
          <p:cNvPr id="6" name="Content Placeholder 1">
            <a:extLst>
              <a:ext uri="{FF2B5EF4-FFF2-40B4-BE49-F238E27FC236}">
                <a16:creationId xmlns:a16="http://schemas.microsoft.com/office/drawing/2014/main" id="{121D6B2F-A5F2-C962-DED7-8B7F15D24B2B}"/>
              </a:ext>
            </a:extLst>
          </p:cNvPr>
          <p:cNvSpPr txBox="1">
            <a:spLocks/>
          </p:cNvSpPr>
          <p:nvPr/>
        </p:nvSpPr>
        <p:spPr>
          <a:xfrm>
            <a:off x="680319" y="4198069"/>
            <a:ext cx="10430133" cy="1173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PH" sz="3200" dirty="0"/>
              <a:t>Has garnered a variety of original content itself that won many awards.</a:t>
            </a:r>
          </a:p>
          <a:p>
            <a:endParaRPr lang="en-PH" sz="3200" dirty="0"/>
          </a:p>
          <a:p>
            <a:endParaRPr lang="en-PH" dirty="0"/>
          </a:p>
        </p:txBody>
      </p:sp>
      <p:sp>
        <p:nvSpPr>
          <p:cNvPr id="7" name="Content Placeholder 1">
            <a:extLst>
              <a:ext uri="{FF2B5EF4-FFF2-40B4-BE49-F238E27FC236}">
                <a16:creationId xmlns:a16="http://schemas.microsoft.com/office/drawing/2014/main" id="{2B09CA2F-A315-E0A6-E043-5A97DAB4FED7}"/>
              </a:ext>
            </a:extLst>
          </p:cNvPr>
          <p:cNvSpPr txBox="1">
            <a:spLocks/>
          </p:cNvSpPr>
          <p:nvPr/>
        </p:nvSpPr>
        <p:spPr>
          <a:xfrm>
            <a:off x="680319" y="6283388"/>
            <a:ext cx="10831359" cy="385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1050" i="1" dirty="0"/>
              <a:t>O’Brien, C. (2025, August 25). The unstoppable success of Netflix. Digital Marketing Institute. https://digitalmarketinginstitute.com/blog/the-unstoppable-success-of-netflix</a:t>
            </a:r>
            <a:endParaRPr lang="en-PH" sz="900" i="1" dirty="0"/>
          </a:p>
        </p:txBody>
      </p:sp>
    </p:spTree>
    <p:extLst>
      <p:ext uri="{BB962C8B-B14F-4D97-AF65-F5344CB8AC3E}">
        <p14:creationId xmlns:p14="http://schemas.microsoft.com/office/powerpoint/2010/main" val="4050378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CF43-3327-47A6-BC9A-391F00265C9D}"/>
            </a:ext>
          </a:extLst>
        </p:cNvPr>
        <p:cNvGrpSpPr/>
        <p:nvPr/>
      </p:nvGrpSpPr>
      <p:grpSpPr>
        <a:xfrm>
          <a:off x="0" y="0"/>
          <a:ext cx="0" cy="0"/>
          <a:chOff x="0" y="0"/>
          <a:chExt cx="0" cy="0"/>
        </a:xfrm>
      </p:grpSpPr>
      <p:pic>
        <p:nvPicPr>
          <p:cNvPr id="1026" name="Picture 2" descr="​5 principles for solving problems">
            <a:extLst>
              <a:ext uri="{FF2B5EF4-FFF2-40B4-BE49-F238E27FC236}">
                <a16:creationId xmlns:a16="http://schemas.microsoft.com/office/drawing/2014/main" id="{CE8534D5-DB09-BF93-E93A-C5D910810E38}"/>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artisticBlur/>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771904" y="1441181"/>
            <a:ext cx="6648192" cy="522730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9E7B532-9F62-243A-6E8E-7923426ECEA0}"/>
              </a:ext>
            </a:extLst>
          </p:cNvPr>
          <p:cNvSpPr>
            <a:spLocks noGrp="1"/>
          </p:cNvSpPr>
          <p:nvPr>
            <p:ph type="title"/>
          </p:nvPr>
        </p:nvSpPr>
        <p:spPr/>
        <p:txBody>
          <a:bodyPr/>
          <a:lstStyle/>
          <a:p>
            <a:r>
              <a:rPr lang="en-PH" dirty="0"/>
              <a:t>The Business Problem – </a:t>
            </a:r>
            <a:r>
              <a:rPr lang="en-PH" i="1" dirty="0"/>
              <a:t>NETFLIX Facts</a:t>
            </a:r>
          </a:p>
        </p:txBody>
      </p:sp>
      <p:sp>
        <p:nvSpPr>
          <p:cNvPr id="2" name="Content Placeholder 1">
            <a:extLst>
              <a:ext uri="{FF2B5EF4-FFF2-40B4-BE49-F238E27FC236}">
                <a16:creationId xmlns:a16="http://schemas.microsoft.com/office/drawing/2014/main" id="{284D88A4-83A0-48C6-42A0-44129FD4E98F}"/>
              </a:ext>
            </a:extLst>
          </p:cNvPr>
          <p:cNvSpPr>
            <a:spLocks noGrp="1"/>
          </p:cNvSpPr>
          <p:nvPr>
            <p:ph idx="1"/>
          </p:nvPr>
        </p:nvSpPr>
        <p:spPr>
          <a:xfrm>
            <a:off x="680322" y="2336873"/>
            <a:ext cx="6113768" cy="1841837"/>
          </a:xfrm>
        </p:spPr>
        <p:txBody>
          <a:bodyPr>
            <a:normAutofit/>
          </a:bodyPr>
          <a:lstStyle/>
          <a:p>
            <a:pPr marL="0" indent="0" algn="just">
              <a:buNone/>
            </a:pPr>
            <a:r>
              <a:rPr lang="en-US" sz="2000" dirty="0"/>
              <a:t>“This image shows the streaming giant winning more nominations for the 76th Primetime Emmy Awards, winning 107 nominations, up from 103 in 2023. While HBO was relegated to third place for the first time since 1995.”</a:t>
            </a:r>
            <a:endParaRPr lang="en-PH" sz="1600" dirty="0"/>
          </a:p>
        </p:txBody>
      </p:sp>
      <p:sp>
        <p:nvSpPr>
          <p:cNvPr id="7" name="Content Placeholder 1">
            <a:extLst>
              <a:ext uri="{FF2B5EF4-FFF2-40B4-BE49-F238E27FC236}">
                <a16:creationId xmlns:a16="http://schemas.microsoft.com/office/drawing/2014/main" id="{2327AD0D-7735-468D-AD52-0DD1D07310C1}"/>
              </a:ext>
            </a:extLst>
          </p:cNvPr>
          <p:cNvSpPr txBox="1">
            <a:spLocks/>
          </p:cNvSpPr>
          <p:nvPr/>
        </p:nvSpPr>
        <p:spPr>
          <a:xfrm>
            <a:off x="680319" y="6283388"/>
            <a:ext cx="10831359" cy="385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1050" i="1" dirty="0"/>
              <a:t>O’Brien, C. (2025, August 25). The unstoppable success of Netflix. Digital Marketing Institute. https://digitalmarketinginstitute.com/blog/the-unstoppable-success-of-netflix</a:t>
            </a:r>
            <a:endParaRPr lang="en-PH" sz="900" i="1" dirty="0"/>
          </a:p>
        </p:txBody>
      </p:sp>
      <p:pic>
        <p:nvPicPr>
          <p:cNvPr id="8" name="Picture 7" descr="Netflix Emmy nominations">
            <a:extLst>
              <a:ext uri="{FF2B5EF4-FFF2-40B4-BE49-F238E27FC236}">
                <a16:creationId xmlns:a16="http://schemas.microsoft.com/office/drawing/2014/main" id="{C60325ED-139F-8C53-C4AC-5F5ED5D19339}"/>
              </a:ext>
            </a:extLst>
          </p:cNvPr>
          <p:cNvPicPr>
            <a:picLocks noChangeAspect="1"/>
          </p:cNvPicPr>
          <p:nvPr/>
        </p:nvPicPr>
        <p:blipFill>
          <a:blip r:embed="rId4"/>
          <a:stretch>
            <a:fillRect/>
          </a:stretch>
        </p:blipFill>
        <p:spPr>
          <a:xfrm>
            <a:off x="6912077" y="1922192"/>
            <a:ext cx="4214711" cy="3859176"/>
          </a:xfrm>
          <a:prstGeom prst="rect">
            <a:avLst/>
          </a:prstGeom>
        </p:spPr>
      </p:pic>
      <p:sp>
        <p:nvSpPr>
          <p:cNvPr id="9" name="Content Placeholder 1">
            <a:extLst>
              <a:ext uri="{FF2B5EF4-FFF2-40B4-BE49-F238E27FC236}">
                <a16:creationId xmlns:a16="http://schemas.microsoft.com/office/drawing/2014/main" id="{7C7DEC65-A914-0B56-CBF4-BAD43F24AE01}"/>
              </a:ext>
            </a:extLst>
          </p:cNvPr>
          <p:cNvSpPr txBox="1">
            <a:spLocks/>
          </p:cNvSpPr>
          <p:nvPr/>
        </p:nvSpPr>
        <p:spPr>
          <a:xfrm>
            <a:off x="680319" y="4054835"/>
            <a:ext cx="6113768" cy="117324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PH" sz="3200" dirty="0"/>
              <a:t>Seen here Netflix is a fierce competitor winning multiple nominations</a:t>
            </a:r>
          </a:p>
          <a:p>
            <a:endParaRPr lang="en-PH" sz="3200" dirty="0"/>
          </a:p>
          <a:p>
            <a:endParaRPr lang="en-PH" dirty="0"/>
          </a:p>
        </p:txBody>
      </p:sp>
    </p:spTree>
    <p:extLst>
      <p:ext uri="{BB962C8B-B14F-4D97-AF65-F5344CB8AC3E}">
        <p14:creationId xmlns:p14="http://schemas.microsoft.com/office/powerpoint/2010/main" val="4050488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88301-8068-461E-6D08-6311734A08EF}"/>
            </a:ext>
          </a:extLst>
        </p:cNvPr>
        <p:cNvGrpSpPr/>
        <p:nvPr/>
      </p:nvGrpSpPr>
      <p:grpSpPr>
        <a:xfrm>
          <a:off x="0" y="0"/>
          <a:ext cx="0" cy="0"/>
          <a:chOff x="0" y="0"/>
          <a:chExt cx="0" cy="0"/>
        </a:xfrm>
      </p:grpSpPr>
      <p:pic>
        <p:nvPicPr>
          <p:cNvPr id="1026" name="Picture 2" descr="​5 principles for solving problems">
            <a:extLst>
              <a:ext uri="{FF2B5EF4-FFF2-40B4-BE49-F238E27FC236}">
                <a16:creationId xmlns:a16="http://schemas.microsoft.com/office/drawing/2014/main" id="{65E3BCD0-64DB-0F25-9BB9-6D6197804462}"/>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artisticBlur/>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771904" y="1441181"/>
            <a:ext cx="6648192" cy="522730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5CDC71FB-EC02-4DA3-828A-ED0ED2AAB168}"/>
              </a:ext>
            </a:extLst>
          </p:cNvPr>
          <p:cNvSpPr>
            <a:spLocks noGrp="1"/>
          </p:cNvSpPr>
          <p:nvPr>
            <p:ph type="title"/>
          </p:nvPr>
        </p:nvSpPr>
        <p:spPr/>
        <p:txBody>
          <a:bodyPr/>
          <a:lstStyle/>
          <a:p>
            <a:r>
              <a:rPr lang="en-PH" dirty="0"/>
              <a:t>The Business Problem – </a:t>
            </a:r>
            <a:r>
              <a:rPr lang="en-PH" sz="2800" i="1" dirty="0"/>
              <a:t>What makes them Different</a:t>
            </a:r>
            <a:endParaRPr lang="en-PH" i="1" dirty="0"/>
          </a:p>
        </p:txBody>
      </p:sp>
      <p:sp>
        <p:nvSpPr>
          <p:cNvPr id="9" name="Content Placeholder 1">
            <a:extLst>
              <a:ext uri="{FF2B5EF4-FFF2-40B4-BE49-F238E27FC236}">
                <a16:creationId xmlns:a16="http://schemas.microsoft.com/office/drawing/2014/main" id="{1DDBF0A5-BE85-9C13-E756-5C164DA33D23}"/>
              </a:ext>
            </a:extLst>
          </p:cNvPr>
          <p:cNvSpPr txBox="1">
            <a:spLocks/>
          </p:cNvSpPr>
          <p:nvPr/>
        </p:nvSpPr>
        <p:spPr>
          <a:xfrm>
            <a:off x="680320" y="2137545"/>
            <a:ext cx="9613861" cy="21984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PH" dirty="0"/>
              <a:t>Is it:</a:t>
            </a:r>
          </a:p>
          <a:p>
            <a:pPr marL="457200" lvl="1" indent="0">
              <a:buNone/>
            </a:pPr>
            <a:r>
              <a:rPr lang="en-PH" dirty="0"/>
              <a:t>Their </a:t>
            </a:r>
            <a:r>
              <a:rPr lang="en-PH" i="1" dirty="0"/>
              <a:t>marketing</a:t>
            </a:r>
            <a:r>
              <a:rPr lang="en-PH" dirty="0"/>
              <a:t>?</a:t>
            </a:r>
          </a:p>
          <a:p>
            <a:pPr marL="457200" lvl="1" indent="0">
              <a:buNone/>
            </a:pPr>
            <a:r>
              <a:rPr lang="en-PH" dirty="0"/>
              <a:t>	Their </a:t>
            </a:r>
            <a:r>
              <a:rPr lang="en-PH" i="1" dirty="0"/>
              <a:t>content</a:t>
            </a:r>
            <a:r>
              <a:rPr lang="en-PH" dirty="0"/>
              <a:t>?</a:t>
            </a:r>
          </a:p>
          <a:p>
            <a:pPr marL="457200" lvl="1" indent="0">
              <a:buNone/>
            </a:pPr>
            <a:r>
              <a:rPr lang="en-PH" dirty="0"/>
              <a:t>		Or their </a:t>
            </a:r>
            <a:r>
              <a:rPr lang="en-PH" i="1" dirty="0"/>
              <a:t>technology</a:t>
            </a:r>
            <a:r>
              <a:rPr lang="en-PH" dirty="0"/>
              <a:t>?</a:t>
            </a:r>
          </a:p>
          <a:p>
            <a:endParaRPr lang="en-PH" dirty="0"/>
          </a:p>
          <a:p>
            <a:endParaRPr lang="en-PH" sz="1800" dirty="0"/>
          </a:p>
        </p:txBody>
      </p:sp>
      <p:sp>
        <p:nvSpPr>
          <p:cNvPr id="6" name="Content Placeholder 1">
            <a:extLst>
              <a:ext uri="{FF2B5EF4-FFF2-40B4-BE49-F238E27FC236}">
                <a16:creationId xmlns:a16="http://schemas.microsoft.com/office/drawing/2014/main" id="{AA5CC2FE-3356-0008-BE58-7C4CAD6EF46F}"/>
              </a:ext>
            </a:extLst>
          </p:cNvPr>
          <p:cNvSpPr txBox="1">
            <a:spLocks/>
          </p:cNvSpPr>
          <p:nvPr/>
        </p:nvSpPr>
        <p:spPr>
          <a:xfrm>
            <a:off x="3645988" y="4425131"/>
            <a:ext cx="6648193" cy="1197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gn="r">
              <a:buNone/>
            </a:pPr>
            <a:r>
              <a:rPr lang="en-PH" sz="3200" dirty="0"/>
              <a:t>Let's focus and dive in specifically into their </a:t>
            </a:r>
            <a:r>
              <a:rPr lang="en-PH" sz="3200" u="sng" dirty="0"/>
              <a:t>Technology</a:t>
            </a:r>
            <a:r>
              <a:rPr lang="en-PH" sz="3200" dirty="0"/>
              <a:t>.</a:t>
            </a:r>
            <a:endParaRPr lang="en-PH" sz="2800" dirty="0"/>
          </a:p>
        </p:txBody>
      </p:sp>
    </p:spTree>
    <p:extLst>
      <p:ext uri="{BB962C8B-B14F-4D97-AF65-F5344CB8AC3E}">
        <p14:creationId xmlns:p14="http://schemas.microsoft.com/office/powerpoint/2010/main" val="2653367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EE424-134D-444A-2239-DB010289BDD1}"/>
            </a:ext>
          </a:extLst>
        </p:cNvPr>
        <p:cNvGrpSpPr/>
        <p:nvPr/>
      </p:nvGrpSpPr>
      <p:grpSpPr>
        <a:xfrm>
          <a:off x="0" y="0"/>
          <a:ext cx="0" cy="0"/>
          <a:chOff x="0" y="0"/>
          <a:chExt cx="0" cy="0"/>
        </a:xfrm>
      </p:grpSpPr>
      <p:pic>
        <p:nvPicPr>
          <p:cNvPr id="1026" name="Picture 2" descr="​5 principles for solving problems">
            <a:extLst>
              <a:ext uri="{FF2B5EF4-FFF2-40B4-BE49-F238E27FC236}">
                <a16:creationId xmlns:a16="http://schemas.microsoft.com/office/drawing/2014/main" id="{F6C9AED1-74BC-CE9D-CE71-E9581F4A655D}"/>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artisticBlur/>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771904" y="1441181"/>
            <a:ext cx="6648192" cy="522730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AE8D40F4-98C8-ED40-1E39-E813AF1962A5}"/>
              </a:ext>
            </a:extLst>
          </p:cNvPr>
          <p:cNvSpPr>
            <a:spLocks noGrp="1"/>
          </p:cNvSpPr>
          <p:nvPr>
            <p:ph type="title"/>
          </p:nvPr>
        </p:nvSpPr>
        <p:spPr/>
        <p:txBody>
          <a:bodyPr/>
          <a:lstStyle/>
          <a:p>
            <a:r>
              <a:rPr lang="en-PH" dirty="0"/>
              <a:t>The Business Problem – </a:t>
            </a:r>
            <a:r>
              <a:rPr lang="en-PH" sz="2800" i="1" dirty="0"/>
              <a:t>What makes them Different</a:t>
            </a:r>
            <a:endParaRPr lang="en-PH" i="1" dirty="0"/>
          </a:p>
        </p:txBody>
      </p:sp>
      <p:sp>
        <p:nvSpPr>
          <p:cNvPr id="6" name="Content Placeholder 1">
            <a:extLst>
              <a:ext uri="{FF2B5EF4-FFF2-40B4-BE49-F238E27FC236}">
                <a16:creationId xmlns:a16="http://schemas.microsoft.com/office/drawing/2014/main" id="{8DFDB05B-A3ED-7431-F637-C96618B35542}"/>
              </a:ext>
            </a:extLst>
          </p:cNvPr>
          <p:cNvSpPr txBox="1">
            <a:spLocks/>
          </p:cNvSpPr>
          <p:nvPr/>
        </p:nvSpPr>
        <p:spPr>
          <a:xfrm>
            <a:off x="680321" y="2455217"/>
            <a:ext cx="9791034" cy="119740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PH" sz="3200" dirty="0"/>
              <a:t>One of the key differences of what makes Netflix unique is how they tailor to the </a:t>
            </a:r>
            <a:r>
              <a:rPr lang="en-PH" sz="3200" i="1" u="sng" dirty="0"/>
              <a:t>customer’s preferences</a:t>
            </a:r>
            <a:endParaRPr lang="en-PH" sz="2800" i="1" u="sng" dirty="0"/>
          </a:p>
        </p:txBody>
      </p:sp>
      <p:sp>
        <p:nvSpPr>
          <p:cNvPr id="3" name="Content Placeholder 1">
            <a:extLst>
              <a:ext uri="{FF2B5EF4-FFF2-40B4-BE49-F238E27FC236}">
                <a16:creationId xmlns:a16="http://schemas.microsoft.com/office/drawing/2014/main" id="{068FD9A8-DCD1-6392-6977-D286996E3C3E}"/>
              </a:ext>
            </a:extLst>
          </p:cNvPr>
          <p:cNvSpPr txBox="1">
            <a:spLocks/>
          </p:cNvSpPr>
          <p:nvPr/>
        </p:nvSpPr>
        <p:spPr>
          <a:xfrm>
            <a:off x="6964892" y="3429000"/>
            <a:ext cx="4546787" cy="1096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PH" sz="2000" i="1" dirty="0"/>
              <a:t>- Particularly show recommendations based of your show history and your searches</a:t>
            </a:r>
            <a:endParaRPr lang="en-PH" sz="1800" i="1" u="sng" dirty="0"/>
          </a:p>
        </p:txBody>
      </p:sp>
      <p:sp>
        <p:nvSpPr>
          <p:cNvPr id="5" name="Content Placeholder 1">
            <a:extLst>
              <a:ext uri="{FF2B5EF4-FFF2-40B4-BE49-F238E27FC236}">
                <a16:creationId xmlns:a16="http://schemas.microsoft.com/office/drawing/2014/main" id="{E15F1C82-8716-F43B-F1D1-31C56AFCC5CD}"/>
              </a:ext>
            </a:extLst>
          </p:cNvPr>
          <p:cNvSpPr txBox="1">
            <a:spLocks/>
          </p:cNvSpPr>
          <p:nvPr/>
        </p:nvSpPr>
        <p:spPr>
          <a:xfrm>
            <a:off x="1203503" y="4273675"/>
            <a:ext cx="2877831" cy="6871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PH" sz="2000" i="1" dirty="0"/>
              <a:t>But is this in any way correlated?</a:t>
            </a:r>
            <a:endParaRPr lang="en-PH" sz="1800" i="1" u="sng" dirty="0"/>
          </a:p>
        </p:txBody>
      </p:sp>
      <p:sp>
        <p:nvSpPr>
          <p:cNvPr id="7" name="Content Placeholder 1">
            <a:extLst>
              <a:ext uri="{FF2B5EF4-FFF2-40B4-BE49-F238E27FC236}">
                <a16:creationId xmlns:a16="http://schemas.microsoft.com/office/drawing/2014/main" id="{A049ECA4-CB36-2CEC-5BF1-588342BAD4C6}"/>
              </a:ext>
            </a:extLst>
          </p:cNvPr>
          <p:cNvSpPr txBox="1">
            <a:spLocks/>
          </p:cNvSpPr>
          <p:nvPr/>
        </p:nvSpPr>
        <p:spPr>
          <a:xfrm>
            <a:off x="2993676" y="5416819"/>
            <a:ext cx="3709149" cy="6871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PH" sz="2000" i="1" dirty="0"/>
              <a:t>Does this spell the difference between failure and success?</a:t>
            </a:r>
            <a:endParaRPr lang="en-PH" sz="1800" i="1" u="sng" dirty="0"/>
          </a:p>
        </p:txBody>
      </p:sp>
    </p:spTree>
    <p:extLst>
      <p:ext uri="{BB962C8B-B14F-4D97-AF65-F5344CB8AC3E}">
        <p14:creationId xmlns:p14="http://schemas.microsoft.com/office/powerpoint/2010/main" val="80868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DE31-3FC3-39BA-C6C2-567E673696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7CB61A-E03A-003E-4D14-F4A10D3FA7E5}"/>
              </a:ext>
            </a:extLst>
          </p:cNvPr>
          <p:cNvSpPr>
            <a:spLocks noGrp="1"/>
          </p:cNvSpPr>
          <p:nvPr>
            <p:ph type="title"/>
          </p:nvPr>
        </p:nvSpPr>
        <p:spPr/>
        <p:txBody>
          <a:bodyPr/>
          <a:lstStyle/>
          <a:p>
            <a:r>
              <a:rPr lang="en-PH" dirty="0"/>
              <a:t>Our Approach</a:t>
            </a:r>
          </a:p>
        </p:txBody>
      </p:sp>
      <p:pic>
        <p:nvPicPr>
          <p:cNvPr id="2050" name="Picture 2" descr="Solving Problems Faced By Small Business In The Digital Age">
            <a:extLst>
              <a:ext uri="{FF2B5EF4-FFF2-40B4-BE49-F238E27FC236}">
                <a16:creationId xmlns:a16="http://schemas.microsoft.com/office/drawing/2014/main" id="{8FF51C69-8200-509C-B21D-FBC1C538F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9677" y="2285182"/>
            <a:ext cx="6292646" cy="4195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757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14AFC-30AE-F35B-A2F0-677C1A65E55A}"/>
            </a:ext>
          </a:extLst>
        </p:cNvPr>
        <p:cNvGrpSpPr/>
        <p:nvPr/>
      </p:nvGrpSpPr>
      <p:grpSpPr>
        <a:xfrm>
          <a:off x="0" y="0"/>
          <a:ext cx="0" cy="0"/>
          <a:chOff x="0" y="0"/>
          <a:chExt cx="0" cy="0"/>
        </a:xfrm>
      </p:grpSpPr>
      <p:pic>
        <p:nvPicPr>
          <p:cNvPr id="2050" name="Picture 2" descr="Solving Problems Faced By Small Business In The Digital Age">
            <a:extLst>
              <a:ext uri="{FF2B5EF4-FFF2-40B4-BE49-F238E27FC236}">
                <a16:creationId xmlns:a16="http://schemas.microsoft.com/office/drawing/2014/main" id="{067C9582-7C0B-9E46-A450-E6DCBC3C075B}"/>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949677" y="2285182"/>
            <a:ext cx="6292646" cy="41950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6D15D3AA-AD00-2DCA-F6DB-159E273BD499}"/>
              </a:ext>
            </a:extLst>
          </p:cNvPr>
          <p:cNvSpPr>
            <a:spLocks noGrp="1"/>
          </p:cNvSpPr>
          <p:nvPr>
            <p:ph type="title"/>
          </p:nvPr>
        </p:nvSpPr>
        <p:spPr/>
        <p:txBody>
          <a:bodyPr/>
          <a:lstStyle/>
          <a:p>
            <a:r>
              <a:rPr lang="en-PH" dirty="0"/>
              <a:t>Our Approach</a:t>
            </a:r>
          </a:p>
        </p:txBody>
      </p:sp>
      <p:sp>
        <p:nvSpPr>
          <p:cNvPr id="2" name="Content Placeholder 1">
            <a:extLst>
              <a:ext uri="{FF2B5EF4-FFF2-40B4-BE49-F238E27FC236}">
                <a16:creationId xmlns:a16="http://schemas.microsoft.com/office/drawing/2014/main" id="{936933AB-CAA6-89D7-6ACC-846135808ED5}"/>
              </a:ext>
            </a:extLst>
          </p:cNvPr>
          <p:cNvSpPr>
            <a:spLocks noGrp="1"/>
          </p:cNvSpPr>
          <p:nvPr>
            <p:ph idx="1"/>
          </p:nvPr>
        </p:nvSpPr>
        <p:spPr>
          <a:xfrm>
            <a:off x="680321" y="2336873"/>
            <a:ext cx="9613861" cy="1092127"/>
          </a:xfrm>
        </p:spPr>
        <p:txBody>
          <a:bodyPr/>
          <a:lstStyle/>
          <a:p>
            <a:pPr marL="0" indent="0">
              <a:buNone/>
            </a:pPr>
            <a:r>
              <a:rPr lang="en-PH" dirty="0"/>
              <a:t>Using AI we can actually find the connection between show recommendations to users and Netflix’s churn rate!</a:t>
            </a:r>
          </a:p>
        </p:txBody>
      </p:sp>
      <p:sp>
        <p:nvSpPr>
          <p:cNvPr id="3" name="Content Placeholder 1">
            <a:extLst>
              <a:ext uri="{FF2B5EF4-FFF2-40B4-BE49-F238E27FC236}">
                <a16:creationId xmlns:a16="http://schemas.microsoft.com/office/drawing/2014/main" id="{E333457A-F229-8ACF-C953-0BFB9F934D8E}"/>
              </a:ext>
            </a:extLst>
          </p:cNvPr>
          <p:cNvSpPr txBox="1">
            <a:spLocks/>
          </p:cNvSpPr>
          <p:nvPr/>
        </p:nvSpPr>
        <p:spPr>
          <a:xfrm>
            <a:off x="4296696" y="3290603"/>
            <a:ext cx="6523415" cy="10921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PH" sz="2000" i="1" dirty="0"/>
              <a:t>Though a simple solution, it answers the real question of can the right shows recommended to viewers help </a:t>
            </a:r>
            <a:r>
              <a:rPr lang="en-PH" sz="2000" i="1" u="sng" dirty="0"/>
              <a:t>retain</a:t>
            </a:r>
            <a:r>
              <a:rPr lang="en-PH" sz="2000" i="1" dirty="0"/>
              <a:t> customers? </a:t>
            </a:r>
          </a:p>
        </p:txBody>
      </p:sp>
      <p:sp>
        <p:nvSpPr>
          <p:cNvPr id="5" name="Content Placeholder 1">
            <a:extLst>
              <a:ext uri="{FF2B5EF4-FFF2-40B4-BE49-F238E27FC236}">
                <a16:creationId xmlns:a16="http://schemas.microsoft.com/office/drawing/2014/main" id="{2E9D7A2D-DCE7-87EF-4A74-EADBE5926D2B}"/>
              </a:ext>
            </a:extLst>
          </p:cNvPr>
          <p:cNvSpPr txBox="1">
            <a:spLocks/>
          </p:cNvSpPr>
          <p:nvPr/>
        </p:nvSpPr>
        <p:spPr>
          <a:xfrm>
            <a:off x="280218" y="4613042"/>
            <a:ext cx="2669459" cy="12076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gn="just">
              <a:buNone/>
            </a:pPr>
            <a:r>
              <a:rPr lang="en-PH" sz="1600" i="1" dirty="0"/>
              <a:t>Churn Rate - </a:t>
            </a:r>
            <a:r>
              <a:rPr lang="en-US" sz="1600" dirty="0"/>
              <a:t>the annual percentage rate at which customers stop subscribing to a service or employees leave a job.</a:t>
            </a:r>
            <a:endParaRPr lang="en-PH" sz="1600" i="1" dirty="0"/>
          </a:p>
        </p:txBody>
      </p:sp>
    </p:spTree>
    <p:extLst>
      <p:ext uri="{BB962C8B-B14F-4D97-AF65-F5344CB8AC3E}">
        <p14:creationId xmlns:p14="http://schemas.microsoft.com/office/powerpoint/2010/main" val="1172470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0B195-9AA8-3874-B220-5DA993A11CA6}"/>
            </a:ext>
          </a:extLst>
        </p:cNvPr>
        <p:cNvGrpSpPr/>
        <p:nvPr/>
      </p:nvGrpSpPr>
      <p:grpSpPr>
        <a:xfrm>
          <a:off x="0" y="0"/>
          <a:ext cx="0" cy="0"/>
          <a:chOff x="0" y="0"/>
          <a:chExt cx="0" cy="0"/>
        </a:xfrm>
      </p:grpSpPr>
      <p:pic>
        <p:nvPicPr>
          <p:cNvPr id="2050" name="Picture 2" descr="Solving Problems Faced By Small Business In The Digital Age">
            <a:extLst>
              <a:ext uri="{FF2B5EF4-FFF2-40B4-BE49-F238E27FC236}">
                <a16:creationId xmlns:a16="http://schemas.microsoft.com/office/drawing/2014/main" id="{8095AD94-930C-B976-DBCF-4D3C07A40653}"/>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949677" y="2285182"/>
            <a:ext cx="6292646" cy="41950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358D151-8038-E6E7-68C6-781448C20038}"/>
              </a:ext>
            </a:extLst>
          </p:cNvPr>
          <p:cNvSpPr>
            <a:spLocks noGrp="1"/>
          </p:cNvSpPr>
          <p:nvPr>
            <p:ph type="title"/>
          </p:nvPr>
        </p:nvSpPr>
        <p:spPr/>
        <p:txBody>
          <a:bodyPr/>
          <a:lstStyle/>
          <a:p>
            <a:r>
              <a:rPr lang="en-PH" dirty="0"/>
              <a:t>Our “Technical” Approach</a:t>
            </a:r>
          </a:p>
        </p:txBody>
      </p:sp>
      <p:sp>
        <p:nvSpPr>
          <p:cNvPr id="2" name="Content Placeholder 1">
            <a:extLst>
              <a:ext uri="{FF2B5EF4-FFF2-40B4-BE49-F238E27FC236}">
                <a16:creationId xmlns:a16="http://schemas.microsoft.com/office/drawing/2014/main" id="{991AA335-9BF6-1993-919D-E217D7EED319}"/>
              </a:ext>
            </a:extLst>
          </p:cNvPr>
          <p:cNvSpPr>
            <a:spLocks noGrp="1"/>
          </p:cNvSpPr>
          <p:nvPr>
            <p:ph idx="1"/>
          </p:nvPr>
        </p:nvSpPr>
        <p:spPr>
          <a:xfrm>
            <a:off x="680321" y="2336873"/>
            <a:ext cx="9613861" cy="3434662"/>
          </a:xfrm>
        </p:spPr>
        <p:txBody>
          <a:bodyPr/>
          <a:lstStyle/>
          <a:p>
            <a:r>
              <a:rPr lang="en-PH" dirty="0"/>
              <a:t>We collected sample data from online to be used as our sample dataset.</a:t>
            </a:r>
          </a:p>
          <a:p>
            <a:endParaRPr lang="en-PH" dirty="0"/>
          </a:p>
          <a:p>
            <a:endParaRPr lang="en-PH" dirty="0"/>
          </a:p>
          <a:p>
            <a:endParaRPr lang="en-PH" dirty="0"/>
          </a:p>
          <a:p>
            <a:r>
              <a:rPr lang="en-PH" dirty="0"/>
              <a:t>Then a Churn Predictive Model has been created with AUC-ROC as its primary metrics.</a:t>
            </a:r>
          </a:p>
          <a:p>
            <a:endParaRPr lang="en-PH" dirty="0"/>
          </a:p>
        </p:txBody>
      </p:sp>
      <p:sp>
        <p:nvSpPr>
          <p:cNvPr id="6" name="Content Placeholder 1">
            <a:extLst>
              <a:ext uri="{FF2B5EF4-FFF2-40B4-BE49-F238E27FC236}">
                <a16:creationId xmlns:a16="http://schemas.microsoft.com/office/drawing/2014/main" id="{412CFC8E-B2A3-5150-2C77-1B465AF021D1}"/>
              </a:ext>
            </a:extLst>
          </p:cNvPr>
          <p:cNvSpPr txBox="1">
            <a:spLocks/>
          </p:cNvSpPr>
          <p:nvPr/>
        </p:nvSpPr>
        <p:spPr>
          <a:xfrm>
            <a:off x="1738607" y="3189822"/>
            <a:ext cx="7503716" cy="11929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PH" sz="1800" i="1" dirty="0"/>
              <a:t>Wadood, A. (2025, July 5). Netflix customer churn dataset(upvote if you like). Kaggle. </a:t>
            </a:r>
            <a:r>
              <a:rPr lang="en-PH" sz="1800" i="1" u="sng" dirty="0">
                <a:hlinkClick r:id="rId4"/>
              </a:rPr>
              <a:t>https://www.kaggle.com/datasets/abdulwadood11220/netflix-customer-churn-dataset/data</a:t>
            </a:r>
            <a:endParaRPr lang="en-PH" sz="1800" dirty="0"/>
          </a:p>
        </p:txBody>
      </p:sp>
    </p:spTree>
    <p:extLst>
      <p:ext uri="{BB962C8B-B14F-4D97-AF65-F5344CB8AC3E}">
        <p14:creationId xmlns:p14="http://schemas.microsoft.com/office/powerpoint/2010/main" val="634716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F10C-953F-D814-4B8B-0CAAC7012F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16AE548-BF50-EF0F-CB63-2F7A6B3EF497}"/>
              </a:ext>
            </a:extLst>
          </p:cNvPr>
          <p:cNvSpPr>
            <a:spLocks noGrp="1"/>
          </p:cNvSpPr>
          <p:nvPr>
            <p:ph type="title"/>
          </p:nvPr>
        </p:nvSpPr>
        <p:spPr/>
        <p:txBody>
          <a:bodyPr/>
          <a:lstStyle/>
          <a:p>
            <a:r>
              <a:rPr lang="en-PH" dirty="0"/>
              <a:t>Results &amp; Findings</a:t>
            </a:r>
          </a:p>
        </p:txBody>
      </p:sp>
      <p:pic>
        <p:nvPicPr>
          <p:cNvPr id="3" name="Picture 2">
            <a:extLst>
              <a:ext uri="{FF2B5EF4-FFF2-40B4-BE49-F238E27FC236}">
                <a16:creationId xmlns:a16="http://schemas.microsoft.com/office/drawing/2014/main" id="{9DFB16CF-47EF-41AD-136E-81F6E2FA771C}"/>
              </a:ext>
            </a:extLst>
          </p:cNvPr>
          <p:cNvPicPr>
            <a:picLocks noChangeAspect="1"/>
          </p:cNvPicPr>
          <p:nvPr/>
        </p:nvPicPr>
        <p:blipFill>
          <a:blip r:embed="rId2"/>
          <a:stretch>
            <a:fillRect/>
          </a:stretch>
        </p:blipFill>
        <p:spPr>
          <a:xfrm>
            <a:off x="2684207" y="2360016"/>
            <a:ext cx="6823586" cy="3947102"/>
          </a:xfrm>
          <a:prstGeom prst="rect">
            <a:avLst/>
          </a:prstGeom>
        </p:spPr>
      </p:pic>
    </p:spTree>
    <p:extLst>
      <p:ext uri="{BB962C8B-B14F-4D97-AF65-F5344CB8AC3E}">
        <p14:creationId xmlns:p14="http://schemas.microsoft.com/office/powerpoint/2010/main" val="183259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31EE0-B824-F735-4F11-EE264C2B58C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B8209C-2457-6ED0-4248-CF7F85ECAE4E}"/>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84207" y="2360016"/>
            <a:ext cx="6823586" cy="3947102"/>
          </a:xfrm>
          <a:prstGeom prst="rect">
            <a:avLst/>
          </a:prstGeom>
          <a:ln>
            <a:noFill/>
          </a:ln>
          <a:effectLst>
            <a:softEdge rad="112500"/>
          </a:effectLst>
        </p:spPr>
      </p:pic>
      <p:sp>
        <p:nvSpPr>
          <p:cNvPr id="4" name="Title 3">
            <a:extLst>
              <a:ext uri="{FF2B5EF4-FFF2-40B4-BE49-F238E27FC236}">
                <a16:creationId xmlns:a16="http://schemas.microsoft.com/office/drawing/2014/main" id="{EED6C2C7-FE7D-7F5A-9C2F-5AAD06A1594D}"/>
              </a:ext>
            </a:extLst>
          </p:cNvPr>
          <p:cNvSpPr>
            <a:spLocks noGrp="1"/>
          </p:cNvSpPr>
          <p:nvPr>
            <p:ph type="title"/>
          </p:nvPr>
        </p:nvSpPr>
        <p:spPr/>
        <p:txBody>
          <a:bodyPr/>
          <a:lstStyle/>
          <a:p>
            <a:r>
              <a:rPr lang="en-PH" dirty="0"/>
              <a:t>Results &amp; Findings</a:t>
            </a:r>
          </a:p>
        </p:txBody>
      </p:sp>
      <p:sp>
        <p:nvSpPr>
          <p:cNvPr id="2" name="Content Placeholder 1">
            <a:extLst>
              <a:ext uri="{FF2B5EF4-FFF2-40B4-BE49-F238E27FC236}">
                <a16:creationId xmlns:a16="http://schemas.microsoft.com/office/drawing/2014/main" id="{7F73BB2F-6894-C79A-83E1-D06C73CA8086}"/>
              </a:ext>
            </a:extLst>
          </p:cNvPr>
          <p:cNvSpPr>
            <a:spLocks noGrp="1"/>
          </p:cNvSpPr>
          <p:nvPr>
            <p:ph idx="1"/>
          </p:nvPr>
        </p:nvSpPr>
        <p:spPr/>
        <p:txBody>
          <a:bodyPr/>
          <a:lstStyle/>
          <a:p>
            <a:r>
              <a:rPr lang="en-PH" dirty="0"/>
              <a:t>For a proper model to work multiple models were tested such as Logistic Regression, Decision Tree, and Random Forest.</a:t>
            </a:r>
          </a:p>
          <a:p>
            <a:r>
              <a:rPr lang="en-PH" dirty="0"/>
              <a:t>This is recommended as we are trying to find the model that yields the highest (closest to 1.0) AUC-ROC.</a:t>
            </a:r>
          </a:p>
        </p:txBody>
      </p:sp>
      <p:sp>
        <p:nvSpPr>
          <p:cNvPr id="5" name="Content Placeholder 1">
            <a:extLst>
              <a:ext uri="{FF2B5EF4-FFF2-40B4-BE49-F238E27FC236}">
                <a16:creationId xmlns:a16="http://schemas.microsoft.com/office/drawing/2014/main" id="{50BE1325-93E5-5D91-D9DA-88BF2C50DC64}"/>
              </a:ext>
            </a:extLst>
          </p:cNvPr>
          <p:cNvSpPr txBox="1">
            <a:spLocks/>
          </p:cNvSpPr>
          <p:nvPr/>
        </p:nvSpPr>
        <p:spPr>
          <a:xfrm>
            <a:off x="680321" y="4018972"/>
            <a:ext cx="4452118" cy="83816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PH" sz="1800" i="1" dirty="0"/>
              <a:t>Remember!</a:t>
            </a:r>
          </a:p>
          <a:p>
            <a:pPr marL="0" indent="0">
              <a:buNone/>
            </a:pPr>
            <a:r>
              <a:rPr lang="en-PH" sz="1800" i="1" dirty="0"/>
              <a:t>The higher and closer the AUC-ROC to 1.0, the more accurate the model is.</a:t>
            </a:r>
          </a:p>
          <a:p>
            <a:pPr marL="0" indent="0">
              <a:buNone/>
            </a:pPr>
            <a:endParaRPr lang="en-PH" sz="1800" i="1" dirty="0"/>
          </a:p>
        </p:txBody>
      </p:sp>
    </p:spTree>
    <p:extLst>
      <p:ext uri="{BB962C8B-B14F-4D97-AF65-F5344CB8AC3E}">
        <p14:creationId xmlns:p14="http://schemas.microsoft.com/office/powerpoint/2010/main" val="1022476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A6C0-0EAC-7941-21FF-CDF08B5AA3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A321A2-3633-B5EF-E2A5-AF36F243EB23}"/>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84207" y="2360016"/>
            <a:ext cx="6823586" cy="3947102"/>
          </a:xfrm>
          <a:prstGeom prst="rect">
            <a:avLst/>
          </a:prstGeom>
          <a:ln>
            <a:noFill/>
          </a:ln>
          <a:effectLst>
            <a:softEdge rad="112500"/>
          </a:effectLst>
        </p:spPr>
      </p:pic>
      <p:sp>
        <p:nvSpPr>
          <p:cNvPr id="4" name="Title 3">
            <a:extLst>
              <a:ext uri="{FF2B5EF4-FFF2-40B4-BE49-F238E27FC236}">
                <a16:creationId xmlns:a16="http://schemas.microsoft.com/office/drawing/2014/main" id="{C0DA6A8D-E906-2302-9602-6AFD89065F01}"/>
              </a:ext>
            </a:extLst>
          </p:cNvPr>
          <p:cNvSpPr>
            <a:spLocks noGrp="1"/>
          </p:cNvSpPr>
          <p:nvPr>
            <p:ph type="title"/>
          </p:nvPr>
        </p:nvSpPr>
        <p:spPr/>
        <p:txBody>
          <a:bodyPr/>
          <a:lstStyle/>
          <a:p>
            <a:r>
              <a:rPr lang="en-PH" dirty="0"/>
              <a:t>Results &amp; Findings – Model Results</a:t>
            </a:r>
          </a:p>
        </p:txBody>
      </p:sp>
      <p:sp>
        <p:nvSpPr>
          <p:cNvPr id="2" name="Content Placeholder 1">
            <a:extLst>
              <a:ext uri="{FF2B5EF4-FFF2-40B4-BE49-F238E27FC236}">
                <a16:creationId xmlns:a16="http://schemas.microsoft.com/office/drawing/2014/main" id="{43D7585B-0A3B-2355-8BE0-05026DC6CC13}"/>
              </a:ext>
            </a:extLst>
          </p:cNvPr>
          <p:cNvSpPr>
            <a:spLocks noGrp="1"/>
          </p:cNvSpPr>
          <p:nvPr>
            <p:ph idx="1"/>
          </p:nvPr>
        </p:nvSpPr>
        <p:spPr>
          <a:xfrm>
            <a:off x="680321" y="2336873"/>
            <a:ext cx="9613861" cy="3867282"/>
          </a:xfrm>
        </p:spPr>
        <p:txBody>
          <a:bodyPr>
            <a:normAutofit/>
          </a:bodyPr>
          <a:lstStyle/>
          <a:p>
            <a:r>
              <a:rPr lang="en-PH" dirty="0"/>
              <a:t>Base on the results, it seems that out of all models Random Forest came out as the best</a:t>
            </a:r>
          </a:p>
          <a:p>
            <a:endParaRPr lang="en-PH" dirty="0"/>
          </a:p>
          <a:p>
            <a:endParaRPr lang="en-PH" dirty="0"/>
          </a:p>
          <a:p>
            <a:endParaRPr lang="en-PH" dirty="0"/>
          </a:p>
          <a:p>
            <a:endParaRPr lang="en-PH" dirty="0"/>
          </a:p>
          <a:p>
            <a:r>
              <a:rPr lang="en-PH" dirty="0"/>
              <a:t>Despite Random Forest being the highest, on average we can already see a clear connection between churn rate and shows being recommended.</a:t>
            </a:r>
          </a:p>
        </p:txBody>
      </p:sp>
      <p:graphicFrame>
        <p:nvGraphicFramePr>
          <p:cNvPr id="7" name="Table 6">
            <a:extLst>
              <a:ext uri="{FF2B5EF4-FFF2-40B4-BE49-F238E27FC236}">
                <a16:creationId xmlns:a16="http://schemas.microsoft.com/office/drawing/2014/main" id="{F9372BB5-D2D3-DE29-A87F-09B7D2CA49B3}"/>
              </a:ext>
            </a:extLst>
          </p:cNvPr>
          <p:cNvGraphicFramePr>
            <a:graphicFrameLocks noGrp="1"/>
          </p:cNvGraphicFramePr>
          <p:nvPr>
            <p:extLst>
              <p:ext uri="{D42A27DB-BD31-4B8C-83A1-F6EECF244321}">
                <p14:modId xmlns:p14="http://schemas.microsoft.com/office/powerpoint/2010/main" val="3603079722"/>
              </p:ext>
            </p:extLst>
          </p:nvPr>
        </p:nvGraphicFramePr>
        <p:xfrm>
          <a:off x="3126658" y="3177730"/>
          <a:ext cx="5938684" cy="1483360"/>
        </p:xfrm>
        <a:graphic>
          <a:graphicData uri="http://schemas.openxmlformats.org/drawingml/2006/table">
            <a:tbl>
              <a:tblPr firstRow="1" bandRow="1">
                <a:tableStyleId>{5C22544A-7EE6-4342-B048-85BDC9FD1C3A}</a:tableStyleId>
              </a:tblPr>
              <a:tblGrid>
                <a:gridCol w="2969342">
                  <a:extLst>
                    <a:ext uri="{9D8B030D-6E8A-4147-A177-3AD203B41FA5}">
                      <a16:colId xmlns:a16="http://schemas.microsoft.com/office/drawing/2014/main" val="4000134115"/>
                    </a:ext>
                  </a:extLst>
                </a:gridCol>
                <a:gridCol w="2969342">
                  <a:extLst>
                    <a:ext uri="{9D8B030D-6E8A-4147-A177-3AD203B41FA5}">
                      <a16:colId xmlns:a16="http://schemas.microsoft.com/office/drawing/2014/main" val="2491138919"/>
                    </a:ext>
                  </a:extLst>
                </a:gridCol>
              </a:tblGrid>
              <a:tr h="370840">
                <a:tc>
                  <a:txBody>
                    <a:bodyPr/>
                    <a:lstStyle/>
                    <a:p>
                      <a:r>
                        <a:rPr lang="en-PH" dirty="0"/>
                        <a:t>Model</a:t>
                      </a:r>
                    </a:p>
                  </a:txBody>
                  <a:tcPr/>
                </a:tc>
                <a:tc>
                  <a:txBody>
                    <a:bodyPr/>
                    <a:lstStyle/>
                    <a:p>
                      <a:r>
                        <a:rPr lang="en-PH" dirty="0"/>
                        <a:t>Result</a:t>
                      </a:r>
                    </a:p>
                  </a:txBody>
                  <a:tcPr/>
                </a:tc>
                <a:extLst>
                  <a:ext uri="{0D108BD9-81ED-4DB2-BD59-A6C34878D82A}">
                    <a16:rowId xmlns:a16="http://schemas.microsoft.com/office/drawing/2014/main" val="2854289892"/>
                  </a:ext>
                </a:extLst>
              </a:tr>
              <a:tr h="370840">
                <a:tc>
                  <a:txBody>
                    <a:bodyPr/>
                    <a:lstStyle/>
                    <a:p>
                      <a:r>
                        <a:rPr lang="en-PH" sz="1600" dirty="0"/>
                        <a:t>Logistic Regression</a:t>
                      </a:r>
                    </a:p>
                  </a:txBody>
                  <a:tcPr/>
                </a:tc>
                <a:tc>
                  <a:txBody>
                    <a:bodyPr/>
                    <a:lstStyle/>
                    <a:p>
                      <a:r>
                        <a:rPr lang="en-PH" sz="1600" dirty="0"/>
                        <a:t>0.94569</a:t>
                      </a:r>
                    </a:p>
                  </a:txBody>
                  <a:tcPr/>
                </a:tc>
                <a:extLst>
                  <a:ext uri="{0D108BD9-81ED-4DB2-BD59-A6C34878D82A}">
                    <a16:rowId xmlns:a16="http://schemas.microsoft.com/office/drawing/2014/main" val="3088653526"/>
                  </a:ext>
                </a:extLst>
              </a:tr>
              <a:tr h="370840">
                <a:tc>
                  <a:txBody>
                    <a:bodyPr/>
                    <a:lstStyle/>
                    <a:p>
                      <a:r>
                        <a:rPr lang="en-PH" sz="1600" dirty="0"/>
                        <a:t>Decision Tree</a:t>
                      </a:r>
                    </a:p>
                  </a:txBody>
                  <a:tcPr/>
                </a:tc>
                <a:tc>
                  <a:txBody>
                    <a:bodyPr/>
                    <a:lstStyle/>
                    <a:p>
                      <a:r>
                        <a:rPr lang="en-PH" sz="1600" dirty="0"/>
                        <a:t>0.96431</a:t>
                      </a:r>
                    </a:p>
                  </a:txBody>
                  <a:tcPr/>
                </a:tc>
                <a:extLst>
                  <a:ext uri="{0D108BD9-81ED-4DB2-BD59-A6C34878D82A}">
                    <a16:rowId xmlns:a16="http://schemas.microsoft.com/office/drawing/2014/main" val="2677452116"/>
                  </a:ext>
                </a:extLst>
              </a:tr>
              <a:tr h="370840">
                <a:tc>
                  <a:txBody>
                    <a:bodyPr/>
                    <a:lstStyle/>
                    <a:p>
                      <a:r>
                        <a:rPr lang="en-PH" b="1" dirty="0"/>
                        <a:t>Random Forest</a:t>
                      </a:r>
                    </a:p>
                  </a:txBody>
                  <a:tcPr/>
                </a:tc>
                <a:tc>
                  <a:txBody>
                    <a:bodyPr/>
                    <a:lstStyle/>
                    <a:p>
                      <a:r>
                        <a:rPr lang="en-PH" b="1" dirty="0"/>
                        <a:t>0.97184</a:t>
                      </a:r>
                    </a:p>
                  </a:txBody>
                  <a:tcPr/>
                </a:tc>
                <a:extLst>
                  <a:ext uri="{0D108BD9-81ED-4DB2-BD59-A6C34878D82A}">
                    <a16:rowId xmlns:a16="http://schemas.microsoft.com/office/drawing/2014/main" val="3594202261"/>
                  </a:ext>
                </a:extLst>
              </a:tr>
            </a:tbl>
          </a:graphicData>
        </a:graphic>
      </p:graphicFrame>
    </p:spTree>
    <p:extLst>
      <p:ext uri="{BB962C8B-B14F-4D97-AF65-F5344CB8AC3E}">
        <p14:creationId xmlns:p14="http://schemas.microsoft.com/office/powerpoint/2010/main" val="4135453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16704-985A-C007-C45D-DD22A8FBC1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57FFC5-4859-35AB-F4EC-F42A5C7D18C9}"/>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84207" y="2360016"/>
            <a:ext cx="6823586" cy="3947102"/>
          </a:xfrm>
          <a:prstGeom prst="rect">
            <a:avLst/>
          </a:prstGeom>
          <a:ln>
            <a:noFill/>
          </a:ln>
          <a:effectLst>
            <a:softEdge rad="112500"/>
          </a:effectLst>
        </p:spPr>
      </p:pic>
      <p:sp>
        <p:nvSpPr>
          <p:cNvPr id="4" name="Title 3">
            <a:extLst>
              <a:ext uri="{FF2B5EF4-FFF2-40B4-BE49-F238E27FC236}">
                <a16:creationId xmlns:a16="http://schemas.microsoft.com/office/drawing/2014/main" id="{46A0D805-CAB2-4057-5FAB-DEA3C633C389}"/>
              </a:ext>
            </a:extLst>
          </p:cNvPr>
          <p:cNvSpPr>
            <a:spLocks noGrp="1"/>
          </p:cNvSpPr>
          <p:nvPr>
            <p:ph type="title"/>
          </p:nvPr>
        </p:nvSpPr>
        <p:spPr/>
        <p:txBody>
          <a:bodyPr/>
          <a:lstStyle/>
          <a:p>
            <a:r>
              <a:rPr lang="en-PH" dirty="0"/>
              <a:t>Results &amp; Findings – SHAP Summary Plot</a:t>
            </a:r>
          </a:p>
        </p:txBody>
      </p:sp>
      <p:sp>
        <p:nvSpPr>
          <p:cNvPr id="2" name="Content Placeholder 1">
            <a:extLst>
              <a:ext uri="{FF2B5EF4-FFF2-40B4-BE49-F238E27FC236}">
                <a16:creationId xmlns:a16="http://schemas.microsoft.com/office/drawing/2014/main" id="{2863F531-A9E0-98F2-A7F9-B177CB17095F}"/>
              </a:ext>
            </a:extLst>
          </p:cNvPr>
          <p:cNvSpPr>
            <a:spLocks noGrp="1"/>
          </p:cNvSpPr>
          <p:nvPr>
            <p:ph idx="1"/>
          </p:nvPr>
        </p:nvSpPr>
        <p:spPr/>
        <p:txBody>
          <a:bodyPr/>
          <a:lstStyle/>
          <a:p>
            <a:r>
              <a:rPr lang="en-PH" dirty="0"/>
              <a:t>To further understand the results we have a SHAP Summary Plot</a:t>
            </a:r>
          </a:p>
        </p:txBody>
      </p:sp>
      <p:pic>
        <p:nvPicPr>
          <p:cNvPr id="5" name="Picture 4">
            <a:extLst>
              <a:ext uri="{FF2B5EF4-FFF2-40B4-BE49-F238E27FC236}">
                <a16:creationId xmlns:a16="http://schemas.microsoft.com/office/drawing/2014/main" id="{C7C350B3-4E5F-98A6-3F8B-5424CE2074E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63684" y="2876559"/>
            <a:ext cx="5943600" cy="2914015"/>
          </a:xfrm>
          <a:prstGeom prst="rect">
            <a:avLst/>
          </a:prstGeom>
          <a:noFill/>
          <a:ln>
            <a:noFill/>
          </a:ln>
        </p:spPr>
      </p:pic>
      <p:sp>
        <p:nvSpPr>
          <p:cNvPr id="10" name="TextBox 9">
            <a:extLst>
              <a:ext uri="{FF2B5EF4-FFF2-40B4-BE49-F238E27FC236}">
                <a16:creationId xmlns:a16="http://schemas.microsoft.com/office/drawing/2014/main" id="{B83B73DD-0F45-688B-466B-98D4E0738604}"/>
              </a:ext>
            </a:extLst>
          </p:cNvPr>
          <p:cNvSpPr txBox="1"/>
          <p:nvPr/>
        </p:nvSpPr>
        <p:spPr>
          <a:xfrm>
            <a:off x="421181" y="4046083"/>
            <a:ext cx="2940649" cy="2031325"/>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PH" sz="1400" b="0" i="1" u="none" strike="noStrike" kern="1200" cap="none" spc="0" normalizeH="0" baseline="0" noProof="0" dirty="0">
                <a:ln>
                  <a:noFill/>
                </a:ln>
                <a:solidFill>
                  <a:prstClr val="white"/>
                </a:solidFill>
                <a:effectLst/>
                <a:uLnTx/>
                <a:uFillTx/>
                <a:latin typeface="Trebuchet MS" panose="020B0603020202020204"/>
                <a:ea typeface="+mn-ea"/>
                <a:cs typeface="+mn-cs"/>
              </a:rPr>
              <a:t>SHAP </a:t>
            </a:r>
            <a:r>
              <a:rPr lang="en-PH" sz="1400" i="1" dirty="0">
                <a:solidFill>
                  <a:prstClr val="white"/>
                </a:solidFill>
                <a:latin typeface="Trebuchet MS" panose="020B0603020202020204"/>
              </a:rPr>
              <a:t>S</a:t>
            </a:r>
            <a:r>
              <a:rPr kumimoji="0" lang="en-PH" sz="1400" b="0" i="1" u="none" strike="noStrike" kern="1200" cap="none" spc="0" normalizeH="0" baseline="0" noProof="0" dirty="0" err="1">
                <a:ln>
                  <a:noFill/>
                </a:ln>
                <a:solidFill>
                  <a:prstClr val="white"/>
                </a:solidFill>
                <a:effectLst/>
                <a:uLnTx/>
                <a:uFillTx/>
                <a:latin typeface="Trebuchet MS" panose="020B0603020202020204"/>
                <a:ea typeface="+mn-ea"/>
                <a:cs typeface="+mn-cs"/>
              </a:rPr>
              <a:t>ummary</a:t>
            </a:r>
            <a:r>
              <a:rPr kumimoji="0" lang="en-PH" sz="1400" b="0" i="1" u="none" strike="noStrike" kern="1200" cap="none" spc="0" normalizeH="0" baseline="0" noProof="0" dirty="0">
                <a:ln>
                  <a:noFill/>
                </a:ln>
                <a:solidFill>
                  <a:prstClr val="white"/>
                </a:solidFill>
                <a:effectLst/>
                <a:uLnTx/>
                <a:uFillTx/>
                <a:latin typeface="Trebuchet MS" panose="020B0603020202020204"/>
                <a:ea typeface="+mn-ea"/>
                <a:cs typeface="+mn-cs"/>
              </a:rPr>
              <a:t> Plot – </a:t>
            </a:r>
            <a:r>
              <a:rPr kumimoji="0" lang="en-US" sz="1400" b="0" u="none" strike="noStrike" kern="1200" cap="none" spc="0" normalizeH="0" baseline="0" noProof="0" dirty="0">
                <a:ln>
                  <a:noFill/>
                </a:ln>
                <a:solidFill>
                  <a:prstClr val="white"/>
                </a:solidFill>
                <a:effectLst/>
                <a:uLnTx/>
                <a:uFillTx/>
                <a:latin typeface="Trebuchet MS" panose="020B0603020202020204"/>
                <a:ea typeface="+mn-ea"/>
                <a:cs typeface="+mn-cs"/>
              </a:rPr>
              <a:t>visualization tool used in machine learning providing an overview of how different features influence the model's predictions across an entire dataset helping understand which features matter most, the direction of their impact, and the variability of their effect.</a:t>
            </a:r>
            <a:endParaRPr kumimoji="0" lang="en-PH" sz="1400" b="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523449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2E70C-8FFF-6D58-2BF5-9BA12E9672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A9EFF4-916A-C34B-AA9D-33EA28619C7C}"/>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84207" y="2360016"/>
            <a:ext cx="6823586" cy="3947102"/>
          </a:xfrm>
          <a:prstGeom prst="rect">
            <a:avLst/>
          </a:prstGeom>
          <a:ln>
            <a:noFill/>
          </a:ln>
          <a:effectLst>
            <a:softEdge rad="112500"/>
          </a:effectLst>
        </p:spPr>
      </p:pic>
      <p:sp>
        <p:nvSpPr>
          <p:cNvPr id="4" name="Title 3">
            <a:extLst>
              <a:ext uri="{FF2B5EF4-FFF2-40B4-BE49-F238E27FC236}">
                <a16:creationId xmlns:a16="http://schemas.microsoft.com/office/drawing/2014/main" id="{FFCEE37F-F535-2AC5-1849-5952B6D34802}"/>
              </a:ext>
            </a:extLst>
          </p:cNvPr>
          <p:cNvSpPr>
            <a:spLocks noGrp="1"/>
          </p:cNvSpPr>
          <p:nvPr>
            <p:ph type="title"/>
          </p:nvPr>
        </p:nvSpPr>
        <p:spPr/>
        <p:txBody>
          <a:bodyPr/>
          <a:lstStyle/>
          <a:p>
            <a:r>
              <a:rPr lang="en-PH" dirty="0"/>
              <a:t>Results &amp; Findings – SHAP Summary Plot</a:t>
            </a:r>
          </a:p>
        </p:txBody>
      </p:sp>
      <p:sp>
        <p:nvSpPr>
          <p:cNvPr id="2" name="Content Placeholder 1">
            <a:extLst>
              <a:ext uri="{FF2B5EF4-FFF2-40B4-BE49-F238E27FC236}">
                <a16:creationId xmlns:a16="http://schemas.microsoft.com/office/drawing/2014/main" id="{B8785564-1180-7DA1-8CCD-B168E32D121B}"/>
              </a:ext>
            </a:extLst>
          </p:cNvPr>
          <p:cNvSpPr>
            <a:spLocks noGrp="1"/>
          </p:cNvSpPr>
          <p:nvPr>
            <p:ph idx="1"/>
          </p:nvPr>
        </p:nvSpPr>
        <p:spPr>
          <a:xfrm>
            <a:off x="680322" y="2336873"/>
            <a:ext cx="4147318" cy="3599316"/>
          </a:xfrm>
        </p:spPr>
        <p:txBody>
          <a:bodyPr>
            <a:normAutofit fontScale="92500" lnSpcReduction="20000"/>
          </a:bodyPr>
          <a:lstStyle/>
          <a:p>
            <a:r>
              <a:rPr lang="en-PH" dirty="0"/>
              <a:t>Understanding the plot we first look at the listed features on the left.</a:t>
            </a:r>
          </a:p>
          <a:p>
            <a:r>
              <a:rPr lang="en-PH" dirty="0"/>
              <a:t>This is sorted from most impactful to the least (top to bottom).</a:t>
            </a:r>
          </a:p>
          <a:p>
            <a:r>
              <a:rPr lang="en-PH" dirty="0"/>
              <a:t>Based on the plot, the </a:t>
            </a:r>
            <a:r>
              <a:rPr lang="en-PH" dirty="0" err="1"/>
              <a:t>engagement_intensity</a:t>
            </a:r>
            <a:r>
              <a:rPr lang="en-PH" dirty="0"/>
              <a:t> is the top most feature.</a:t>
            </a:r>
          </a:p>
          <a:p>
            <a:r>
              <a:rPr lang="en-PH" dirty="0"/>
              <a:t>This is the user’s watch hours given within the time of their last login day.</a:t>
            </a:r>
          </a:p>
        </p:txBody>
      </p:sp>
      <p:pic>
        <p:nvPicPr>
          <p:cNvPr id="5" name="Picture 4">
            <a:extLst>
              <a:ext uri="{FF2B5EF4-FFF2-40B4-BE49-F238E27FC236}">
                <a16:creationId xmlns:a16="http://schemas.microsoft.com/office/drawing/2014/main" id="{E438802D-E276-3E58-BCDF-469F1AD3C97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63684" y="2876559"/>
            <a:ext cx="5943600" cy="2914015"/>
          </a:xfrm>
          <a:prstGeom prst="rect">
            <a:avLst/>
          </a:prstGeom>
          <a:noFill/>
          <a:ln>
            <a:noFill/>
          </a:ln>
        </p:spPr>
      </p:pic>
      <p:sp>
        <p:nvSpPr>
          <p:cNvPr id="6" name="Content Placeholder 1">
            <a:extLst>
              <a:ext uri="{FF2B5EF4-FFF2-40B4-BE49-F238E27FC236}">
                <a16:creationId xmlns:a16="http://schemas.microsoft.com/office/drawing/2014/main" id="{438DF8F5-9C55-21C0-E0DC-8E585B8514CB}"/>
              </a:ext>
            </a:extLst>
          </p:cNvPr>
          <p:cNvSpPr txBox="1">
            <a:spLocks/>
          </p:cNvSpPr>
          <p:nvPr/>
        </p:nvSpPr>
        <p:spPr>
          <a:xfrm>
            <a:off x="2771895" y="5586135"/>
            <a:ext cx="2191789" cy="70010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PH" sz="1800" i="1" dirty="0"/>
              <a:t>Simply put, how often they use Netflix to watch their shows</a:t>
            </a:r>
          </a:p>
        </p:txBody>
      </p:sp>
    </p:spTree>
    <p:extLst>
      <p:ext uri="{BB962C8B-B14F-4D97-AF65-F5344CB8AC3E}">
        <p14:creationId xmlns:p14="http://schemas.microsoft.com/office/powerpoint/2010/main" val="643989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E5A17-6023-FEC8-44CF-31ACE41C8D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13F1E7E-CB9B-5C37-07AA-3189407FDF30}"/>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84207" y="2360016"/>
            <a:ext cx="6823586" cy="3947102"/>
          </a:xfrm>
          <a:prstGeom prst="rect">
            <a:avLst/>
          </a:prstGeom>
          <a:ln>
            <a:noFill/>
          </a:ln>
          <a:effectLst>
            <a:softEdge rad="112500"/>
          </a:effectLst>
        </p:spPr>
      </p:pic>
      <p:sp>
        <p:nvSpPr>
          <p:cNvPr id="4" name="Title 3">
            <a:extLst>
              <a:ext uri="{FF2B5EF4-FFF2-40B4-BE49-F238E27FC236}">
                <a16:creationId xmlns:a16="http://schemas.microsoft.com/office/drawing/2014/main" id="{99F6BF5A-8E12-A470-9AAB-4FBD71CAB6E3}"/>
              </a:ext>
            </a:extLst>
          </p:cNvPr>
          <p:cNvSpPr>
            <a:spLocks noGrp="1"/>
          </p:cNvSpPr>
          <p:nvPr>
            <p:ph type="title"/>
          </p:nvPr>
        </p:nvSpPr>
        <p:spPr/>
        <p:txBody>
          <a:bodyPr/>
          <a:lstStyle/>
          <a:p>
            <a:r>
              <a:rPr lang="en-PH" dirty="0"/>
              <a:t>Results &amp; Findings – SHAP Summary Plot</a:t>
            </a:r>
          </a:p>
        </p:txBody>
      </p:sp>
      <p:sp>
        <p:nvSpPr>
          <p:cNvPr id="2" name="Content Placeholder 1">
            <a:extLst>
              <a:ext uri="{FF2B5EF4-FFF2-40B4-BE49-F238E27FC236}">
                <a16:creationId xmlns:a16="http://schemas.microsoft.com/office/drawing/2014/main" id="{AA54474E-9422-6F3B-AE7D-F0774067E685}"/>
              </a:ext>
            </a:extLst>
          </p:cNvPr>
          <p:cNvSpPr>
            <a:spLocks noGrp="1"/>
          </p:cNvSpPr>
          <p:nvPr>
            <p:ph idx="1"/>
          </p:nvPr>
        </p:nvSpPr>
        <p:spPr>
          <a:xfrm>
            <a:off x="680322" y="2336873"/>
            <a:ext cx="4147318" cy="3599316"/>
          </a:xfrm>
        </p:spPr>
        <p:txBody>
          <a:bodyPr>
            <a:normAutofit fontScale="85000" lnSpcReduction="20000"/>
          </a:bodyPr>
          <a:lstStyle/>
          <a:p>
            <a:r>
              <a:rPr lang="en-PH" dirty="0"/>
              <a:t>The SHAP value on the bottom shows how that feature impacts the probability of churning.</a:t>
            </a:r>
          </a:p>
          <a:p>
            <a:r>
              <a:rPr lang="en-PH" dirty="0"/>
              <a:t>The higher they are the higher probability to churn and vice versa.</a:t>
            </a:r>
          </a:p>
          <a:p>
            <a:r>
              <a:rPr lang="en-PH" dirty="0"/>
              <a:t>The color blue to red is for the feature value. The redder dots to the right greatly increase the model’s prediction.</a:t>
            </a:r>
          </a:p>
          <a:p>
            <a:r>
              <a:rPr lang="en-PH" dirty="0"/>
              <a:t>While the blue on the left greatly decrease the model’s prediction.</a:t>
            </a:r>
          </a:p>
        </p:txBody>
      </p:sp>
      <p:pic>
        <p:nvPicPr>
          <p:cNvPr id="5" name="Picture 4">
            <a:extLst>
              <a:ext uri="{FF2B5EF4-FFF2-40B4-BE49-F238E27FC236}">
                <a16:creationId xmlns:a16="http://schemas.microsoft.com/office/drawing/2014/main" id="{DD9FCB53-C54F-F2F7-9072-38CAA7E462C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63684" y="2876559"/>
            <a:ext cx="5943600" cy="2914015"/>
          </a:xfrm>
          <a:prstGeom prst="rect">
            <a:avLst/>
          </a:prstGeom>
          <a:noFill/>
          <a:ln>
            <a:noFill/>
          </a:ln>
        </p:spPr>
      </p:pic>
    </p:spTree>
    <p:extLst>
      <p:ext uri="{BB962C8B-B14F-4D97-AF65-F5344CB8AC3E}">
        <p14:creationId xmlns:p14="http://schemas.microsoft.com/office/powerpoint/2010/main" val="1515160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D5F53-BAA6-8AEE-9020-34A69E778F8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3F33B2-5094-C76E-9415-EA3319FC9F00}"/>
              </a:ext>
            </a:extLst>
          </p:cNvPr>
          <p:cNvSpPr>
            <a:spLocks noGrp="1"/>
          </p:cNvSpPr>
          <p:nvPr>
            <p:ph type="title"/>
          </p:nvPr>
        </p:nvSpPr>
        <p:spPr/>
        <p:txBody>
          <a:bodyPr/>
          <a:lstStyle/>
          <a:p>
            <a:r>
              <a:rPr lang="en-PH" dirty="0"/>
              <a:t>Final Conclusion</a:t>
            </a:r>
          </a:p>
        </p:txBody>
      </p:sp>
      <p:pic>
        <p:nvPicPr>
          <p:cNvPr id="5" name="Picture 4">
            <a:extLst>
              <a:ext uri="{FF2B5EF4-FFF2-40B4-BE49-F238E27FC236}">
                <a16:creationId xmlns:a16="http://schemas.microsoft.com/office/drawing/2014/main" id="{B58D1FCC-A6C8-9B1E-6CF6-EEB11FACDB76}"/>
              </a:ext>
            </a:extLst>
          </p:cNvPr>
          <p:cNvPicPr>
            <a:picLocks noChangeAspect="1"/>
          </p:cNvPicPr>
          <p:nvPr/>
        </p:nvPicPr>
        <p:blipFill>
          <a:blip r:embed="rId2"/>
          <a:stretch>
            <a:fillRect/>
          </a:stretch>
        </p:blipFill>
        <p:spPr>
          <a:xfrm>
            <a:off x="2871018" y="2144422"/>
            <a:ext cx="6449964" cy="4594602"/>
          </a:xfrm>
          <a:prstGeom prst="rect">
            <a:avLst/>
          </a:prstGeom>
        </p:spPr>
      </p:pic>
    </p:spTree>
    <p:extLst>
      <p:ext uri="{BB962C8B-B14F-4D97-AF65-F5344CB8AC3E}">
        <p14:creationId xmlns:p14="http://schemas.microsoft.com/office/powerpoint/2010/main" val="1739654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B36EE-8AFE-8438-2D7C-075765BB5D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B87A44-5329-CF87-BF24-765D6B9DE38E}"/>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871018" y="2144422"/>
            <a:ext cx="6449964" cy="4594602"/>
          </a:xfrm>
          <a:prstGeom prst="rect">
            <a:avLst/>
          </a:prstGeom>
        </p:spPr>
      </p:pic>
      <p:sp>
        <p:nvSpPr>
          <p:cNvPr id="4" name="Title 3">
            <a:extLst>
              <a:ext uri="{FF2B5EF4-FFF2-40B4-BE49-F238E27FC236}">
                <a16:creationId xmlns:a16="http://schemas.microsoft.com/office/drawing/2014/main" id="{2210D785-7DA5-A544-B26D-55452B2FD3D6}"/>
              </a:ext>
            </a:extLst>
          </p:cNvPr>
          <p:cNvSpPr>
            <a:spLocks noGrp="1"/>
          </p:cNvSpPr>
          <p:nvPr>
            <p:ph type="title"/>
          </p:nvPr>
        </p:nvSpPr>
        <p:spPr/>
        <p:txBody>
          <a:bodyPr/>
          <a:lstStyle/>
          <a:p>
            <a:r>
              <a:rPr lang="en-PH" dirty="0"/>
              <a:t>Final Conclusion &amp; Recommendation</a:t>
            </a:r>
          </a:p>
        </p:txBody>
      </p:sp>
      <p:sp>
        <p:nvSpPr>
          <p:cNvPr id="3" name="Content Placeholder 2">
            <a:extLst>
              <a:ext uri="{FF2B5EF4-FFF2-40B4-BE49-F238E27FC236}">
                <a16:creationId xmlns:a16="http://schemas.microsoft.com/office/drawing/2014/main" id="{D07F4B10-6F60-B608-DB92-AD05757375CB}"/>
              </a:ext>
            </a:extLst>
          </p:cNvPr>
          <p:cNvSpPr>
            <a:spLocks noGrp="1"/>
          </p:cNvSpPr>
          <p:nvPr>
            <p:ph idx="1"/>
          </p:nvPr>
        </p:nvSpPr>
        <p:spPr>
          <a:xfrm>
            <a:off x="1671482" y="2684451"/>
            <a:ext cx="7631536" cy="976598"/>
          </a:xfrm>
        </p:spPr>
        <p:txBody>
          <a:bodyPr>
            <a:normAutofit/>
          </a:bodyPr>
          <a:lstStyle/>
          <a:p>
            <a:pPr marL="0" indent="0" algn="ctr">
              <a:buNone/>
            </a:pPr>
            <a:r>
              <a:rPr lang="en-PH" sz="2800" u="sng" dirty="0"/>
              <a:t>Show recommendations </a:t>
            </a:r>
            <a:r>
              <a:rPr lang="en-PH" sz="2800" b="1" u="sng" dirty="0"/>
              <a:t>greatly</a:t>
            </a:r>
            <a:r>
              <a:rPr lang="en-PH" sz="2800" u="sng" dirty="0"/>
              <a:t> impacts the user churn rate in Netflix.</a:t>
            </a:r>
          </a:p>
        </p:txBody>
      </p:sp>
      <p:sp>
        <p:nvSpPr>
          <p:cNvPr id="6" name="Content Placeholder 2">
            <a:extLst>
              <a:ext uri="{FF2B5EF4-FFF2-40B4-BE49-F238E27FC236}">
                <a16:creationId xmlns:a16="http://schemas.microsoft.com/office/drawing/2014/main" id="{67484472-51E1-DD08-CEDF-2DCFB4C9D93B}"/>
              </a:ext>
            </a:extLst>
          </p:cNvPr>
          <p:cNvSpPr txBox="1">
            <a:spLocks/>
          </p:cNvSpPr>
          <p:nvPr/>
        </p:nvSpPr>
        <p:spPr>
          <a:xfrm>
            <a:off x="1278195" y="4376618"/>
            <a:ext cx="8418112" cy="13949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gn="just">
              <a:buNone/>
            </a:pPr>
            <a:r>
              <a:rPr lang="en-PH" sz="2000" dirty="0"/>
              <a:t>With that we can focus on the business steps on how to improve on the show recommendations to the users in a way that the experience is entirely better.</a:t>
            </a:r>
          </a:p>
        </p:txBody>
      </p:sp>
    </p:spTree>
    <p:extLst>
      <p:ext uri="{BB962C8B-B14F-4D97-AF65-F5344CB8AC3E}">
        <p14:creationId xmlns:p14="http://schemas.microsoft.com/office/powerpoint/2010/main" val="997940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BD0F-8051-AFD1-10B6-6B3D14644E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75E4BC-75C9-1DF9-D904-AC19E81F2239}"/>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871018" y="2144422"/>
            <a:ext cx="6449964" cy="4594602"/>
          </a:xfrm>
          <a:prstGeom prst="rect">
            <a:avLst/>
          </a:prstGeom>
        </p:spPr>
      </p:pic>
      <p:sp>
        <p:nvSpPr>
          <p:cNvPr id="4" name="Title 3">
            <a:extLst>
              <a:ext uri="{FF2B5EF4-FFF2-40B4-BE49-F238E27FC236}">
                <a16:creationId xmlns:a16="http://schemas.microsoft.com/office/drawing/2014/main" id="{82D7220A-98D8-C44B-F6EF-74CE0DE379E2}"/>
              </a:ext>
            </a:extLst>
          </p:cNvPr>
          <p:cNvSpPr>
            <a:spLocks noGrp="1"/>
          </p:cNvSpPr>
          <p:nvPr>
            <p:ph type="title"/>
          </p:nvPr>
        </p:nvSpPr>
        <p:spPr/>
        <p:txBody>
          <a:bodyPr/>
          <a:lstStyle/>
          <a:p>
            <a:r>
              <a:rPr lang="en-PH" dirty="0"/>
              <a:t>Final Conclusion &amp; Recommendation</a:t>
            </a:r>
          </a:p>
        </p:txBody>
      </p:sp>
      <p:sp>
        <p:nvSpPr>
          <p:cNvPr id="7" name="Content Placeholder 6">
            <a:extLst>
              <a:ext uri="{FF2B5EF4-FFF2-40B4-BE49-F238E27FC236}">
                <a16:creationId xmlns:a16="http://schemas.microsoft.com/office/drawing/2014/main" id="{4746A3D0-AE17-5467-E5B8-0EC5BDCAC5CE}"/>
              </a:ext>
            </a:extLst>
          </p:cNvPr>
          <p:cNvSpPr>
            <a:spLocks noGrp="1"/>
          </p:cNvSpPr>
          <p:nvPr>
            <p:ph idx="1"/>
          </p:nvPr>
        </p:nvSpPr>
        <p:spPr>
          <a:xfrm>
            <a:off x="680321" y="2336874"/>
            <a:ext cx="9613861" cy="3631308"/>
          </a:xfrm>
        </p:spPr>
        <p:txBody>
          <a:bodyPr/>
          <a:lstStyle/>
          <a:p>
            <a:pPr marL="0" indent="0">
              <a:buNone/>
            </a:pPr>
            <a:r>
              <a:rPr lang="en-PH" i="1" dirty="0"/>
              <a:t>Moving forward:</a:t>
            </a:r>
          </a:p>
          <a:p>
            <a:r>
              <a:rPr lang="en-PH" dirty="0"/>
              <a:t>We can choose to further add customization by giving the users quick surveys or single question quizzes which would later help make better predictions of what shows to recommend.</a:t>
            </a:r>
          </a:p>
          <a:p>
            <a:r>
              <a:rPr lang="en-PH" dirty="0"/>
              <a:t>Removing the region lock for certain shows and movies and instead base the content on what the majority of users in a similar location are watching and or recommending.</a:t>
            </a:r>
          </a:p>
          <a:p>
            <a:r>
              <a:rPr lang="en-PH" dirty="0"/>
              <a:t>Bringing in and accepting popular demands of the customer given there is a big demand for that particular show or movie.</a:t>
            </a:r>
          </a:p>
        </p:txBody>
      </p:sp>
    </p:spTree>
    <p:extLst>
      <p:ext uri="{BB962C8B-B14F-4D97-AF65-F5344CB8AC3E}">
        <p14:creationId xmlns:p14="http://schemas.microsoft.com/office/powerpoint/2010/main" val="3221569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F29DE-0579-FEEF-9043-5CB9FD75E5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4864F4-9799-C711-9CFA-87A7861B157E}"/>
              </a:ext>
            </a:extLst>
          </p:cNvPr>
          <p:cNvSpPr>
            <a:spLocks noGrp="1"/>
          </p:cNvSpPr>
          <p:nvPr>
            <p:ph type="title"/>
          </p:nvPr>
        </p:nvSpPr>
        <p:spPr/>
        <p:txBody>
          <a:bodyPr/>
          <a:lstStyle/>
          <a:p>
            <a:r>
              <a:rPr lang="en-US" dirty="0"/>
              <a:t>Some people call this artificial intelligence, but the reality is this technology will enhance us. So instead of artificial intelligence, I think we’ll augment our intelligence.</a:t>
            </a:r>
            <a:endParaRPr lang="en-PH" dirty="0"/>
          </a:p>
        </p:txBody>
      </p:sp>
      <p:sp>
        <p:nvSpPr>
          <p:cNvPr id="3" name="Text Placeholder 2">
            <a:extLst>
              <a:ext uri="{FF2B5EF4-FFF2-40B4-BE49-F238E27FC236}">
                <a16:creationId xmlns:a16="http://schemas.microsoft.com/office/drawing/2014/main" id="{D9C570BE-83F2-A053-741D-F14BD9F84F13}"/>
              </a:ext>
            </a:extLst>
          </p:cNvPr>
          <p:cNvSpPr>
            <a:spLocks noGrp="1"/>
          </p:cNvSpPr>
          <p:nvPr>
            <p:ph type="body" sz="half" idx="13"/>
          </p:nvPr>
        </p:nvSpPr>
        <p:spPr/>
        <p:txBody>
          <a:bodyPr/>
          <a:lstStyle/>
          <a:p>
            <a:r>
              <a:rPr lang="en-PH" dirty="0"/>
              <a:t>—Ginni Rometty</a:t>
            </a:r>
          </a:p>
          <a:p>
            <a:endParaRPr lang="en-PH" dirty="0"/>
          </a:p>
          <a:p>
            <a:endParaRPr lang="en-PH" dirty="0"/>
          </a:p>
        </p:txBody>
      </p:sp>
      <p:sp>
        <p:nvSpPr>
          <p:cNvPr id="2" name="Text Placeholder 1">
            <a:extLst>
              <a:ext uri="{FF2B5EF4-FFF2-40B4-BE49-F238E27FC236}">
                <a16:creationId xmlns:a16="http://schemas.microsoft.com/office/drawing/2014/main" id="{56984537-2DA7-BB9B-3805-1B517E6C62A0}"/>
              </a:ext>
            </a:extLst>
          </p:cNvPr>
          <p:cNvSpPr>
            <a:spLocks noGrp="1"/>
          </p:cNvSpPr>
          <p:nvPr>
            <p:ph type="body" sz="half" idx="2"/>
          </p:nvPr>
        </p:nvSpPr>
        <p:spPr/>
        <p:txBody>
          <a:bodyPr>
            <a:normAutofit/>
          </a:bodyPr>
          <a:lstStyle/>
          <a:p>
            <a:r>
              <a:rPr lang="en-PH" sz="2800" dirty="0"/>
              <a:t>END</a:t>
            </a:r>
          </a:p>
        </p:txBody>
      </p:sp>
      <p:sp>
        <p:nvSpPr>
          <p:cNvPr id="6" name="Text Placeholder 2">
            <a:extLst>
              <a:ext uri="{FF2B5EF4-FFF2-40B4-BE49-F238E27FC236}">
                <a16:creationId xmlns:a16="http://schemas.microsoft.com/office/drawing/2014/main" id="{FB95BC17-CF38-0FEE-D53E-D1342520AFB8}"/>
              </a:ext>
            </a:extLst>
          </p:cNvPr>
          <p:cNvSpPr txBox="1">
            <a:spLocks/>
          </p:cNvSpPr>
          <p:nvPr/>
        </p:nvSpPr>
        <p:spPr>
          <a:xfrm>
            <a:off x="6617110" y="6248402"/>
            <a:ext cx="4958241" cy="548968"/>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r"/>
            <a:r>
              <a:rPr lang="en-PH" sz="1200" i="1" dirty="0"/>
              <a:t>Background images are all taken from Google images.</a:t>
            </a:r>
          </a:p>
        </p:txBody>
      </p:sp>
    </p:spTree>
    <p:extLst>
      <p:ext uri="{BB962C8B-B14F-4D97-AF65-F5344CB8AC3E}">
        <p14:creationId xmlns:p14="http://schemas.microsoft.com/office/powerpoint/2010/main" val="255769205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157</TotalTime>
  <Words>916</Words>
  <Application>Microsoft Office PowerPoint</Application>
  <PresentationFormat>Widescreen</PresentationFormat>
  <Paragraphs>83</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Trebuchet MS</vt:lpstr>
      <vt:lpstr>Berlin</vt:lpstr>
      <vt:lpstr>How Show Recommendations In Netflix Affect User Churn Rate</vt:lpstr>
      <vt:lpstr>The Business Problem</vt:lpstr>
      <vt:lpstr>The Business Problem – NETFLIX Facts</vt:lpstr>
      <vt:lpstr>The Business Problem – NETFLIX Facts</vt:lpstr>
      <vt:lpstr>The Business Problem – What makes them Different</vt:lpstr>
      <vt:lpstr>The Business Problem – What makes them Different</vt:lpstr>
      <vt:lpstr>Our Approach</vt:lpstr>
      <vt:lpstr>Our Approach</vt:lpstr>
      <vt:lpstr>Our “Technical” Approach</vt:lpstr>
      <vt:lpstr>Results &amp; Findings</vt:lpstr>
      <vt:lpstr>Results &amp; Findings</vt:lpstr>
      <vt:lpstr>Results &amp; Findings – Model Results</vt:lpstr>
      <vt:lpstr>Results &amp; Findings – SHAP Summary Plot</vt:lpstr>
      <vt:lpstr>Results &amp; Findings – SHAP Summary Plot</vt:lpstr>
      <vt:lpstr>Results &amp; Findings – SHAP Summary Plot</vt:lpstr>
      <vt:lpstr>Final Conclusion</vt:lpstr>
      <vt:lpstr>Final Conclusion &amp; Recommendation</vt:lpstr>
      <vt:lpstr>Final Conclusion &amp; Recommendation</vt:lpstr>
      <vt:lpstr>Some people call this artificial intelligence, but the reality is this technology will enhance us. So instead of artificial intelligence, I think we’ll augment our intelligence.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 Centeno</dc:creator>
  <cp:lastModifiedBy>Adrian Centeno</cp:lastModifiedBy>
  <cp:revision>6</cp:revision>
  <dcterms:created xsi:type="dcterms:W3CDTF">2025-12-28T09:57:48Z</dcterms:created>
  <dcterms:modified xsi:type="dcterms:W3CDTF">2025-12-28T12:35:37Z</dcterms:modified>
</cp:coreProperties>
</file>